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字由点字倔强黑" charset="1" panose="00020600040101010101"/>
      <p:regular r:id="rId18"/>
    </p:embeddedFont>
    <p:embeddedFont>
      <p:font typeface="字由点字典黑 Bold" charset="1" panose="00020600040101010101"/>
      <p:regular r:id="rId19"/>
    </p:embeddedFont>
    <p:embeddedFont>
      <p:font typeface="思源黑体" charset="1" panose="020B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89210">
            <a:off x="16254814" y="172379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52924" y="55341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38015" y="7365031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6313" y="1204329"/>
            <a:ext cx="17275375" cy="8498389"/>
            <a:chOff x="0" y="0"/>
            <a:chExt cx="4549893" cy="2238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49893" cy="2238259"/>
            </a:xfrm>
            <a:custGeom>
              <a:avLst/>
              <a:gdLst/>
              <a:ahLst/>
              <a:cxnLst/>
              <a:rect r="r" b="b" t="t" l="l"/>
              <a:pathLst>
                <a:path h="2238259" w="4549893">
                  <a:moveTo>
                    <a:pt x="9859" y="0"/>
                  </a:moveTo>
                  <a:lnTo>
                    <a:pt x="4540034" y="0"/>
                  </a:lnTo>
                  <a:cubicBezTo>
                    <a:pt x="4545479" y="0"/>
                    <a:pt x="4549893" y="4414"/>
                    <a:pt x="4549893" y="9859"/>
                  </a:cubicBezTo>
                  <a:lnTo>
                    <a:pt x="4549893" y="2228400"/>
                  </a:lnTo>
                  <a:cubicBezTo>
                    <a:pt x="4549893" y="2233845"/>
                    <a:pt x="4545479" y="2238259"/>
                    <a:pt x="4540034" y="2238259"/>
                  </a:cubicBezTo>
                  <a:lnTo>
                    <a:pt x="9859" y="2238259"/>
                  </a:lnTo>
                  <a:cubicBezTo>
                    <a:pt x="4414" y="2238259"/>
                    <a:pt x="0" y="2233845"/>
                    <a:pt x="0" y="2228400"/>
                  </a:cubicBezTo>
                  <a:lnTo>
                    <a:pt x="0" y="9859"/>
                  </a:lnTo>
                  <a:cubicBezTo>
                    <a:pt x="0" y="4414"/>
                    <a:pt x="4414" y="0"/>
                    <a:pt x="98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565D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49893" cy="227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2068" y="1436616"/>
            <a:ext cx="16903863" cy="8033815"/>
            <a:chOff x="0" y="0"/>
            <a:chExt cx="4452046" cy="2115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52046" cy="2115902"/>
            </a:xfrm>
            <a:custGeom>
              <a:avLst/>
              <a:gdLst/>
              <a:ahLst/>
              <a:cxnLst/>
              <a:rect r="r" b="b" t="t" l="l"/>
              <a:pathLst>
                <a:path h="2115902" w="4452046">
                  <a:moveTo>
                    <a:pt x="10076" y="0"/>
                  </a:moveTo>
                  <a:lnTo>
                    <a:pt x="4441971" y="0"/>
                  </a:lnTo>
                  <a:cubicBezTo>
                    <a:pt x="4444643" y="0"/>
                    <a:pt x="4447206" y="1062"/>
                    <a:pt x="4449095" y="2951"/>
                  </a:cubicBezTo>
                  <a:cubicBezTo>
                    <a:pt x="4450985" y="4841"/>
                    <a:pt x="4452046" y="7404"/>
                    <a:pt x="4452046" y="10076"/>
                  </a:cubicBezTo>
                  <a:lnTo>
                    <a:pt x="4452046" y="2105826"/>
                  </a:lnTo>
                  <a:cubicBezTo>
                    <a:pt x="4452046" y="2108498"/>
                    <a:pt x="4450985" y="2111061"/>
                    <a:pt x="4449095" y="2112951"/>
                  </a:cubicBezTo>
                  <a:cubicBezTo>
                    <a:pt x="4447206" y="2114840"/>
                    <a:pt x="4444643" y="2115902"/>
                    <a:pt x="4441971" y="2115902"/>
                  </a:cubicBezTo>
                  <a:lnTo>
                    <a:pt x="10076" y="2115902"/>
                  </a:lnTo>
                  <a:cubicBezTo>
                    <a:pt x="7404" y="2115902"/>
                    <a:pt x="4841" y="2114840"/>
                    <a:pt x="2951" y="2112951"/>
                  </a:cubicBezTo>
                  <a:cubicBezTo>
                    <a:pt x="1062" y="2111061"/>
                    <a:pt x="0" y="2108498"/>
                    <a:pt x="0" y="2105826"/>
                  </a:cubicBezTo>
                  <a:lnTo>
                    <a:pt x="0" y="10076"/>
                  </a:lnTo>
                  <a:cubicBezTo>
                    <a:pt x="0" y="7404"/>
                    <a:pt x="1062" y="4841"/>
                    <a:pt x="2951" y="2951"/>
                  </a:cubicBezTo>
                  <a:cubicBezTo>
                    <a:pt x="4841" y="1062"/>
                    <a:pt x="7404" y="0"/>
                    <a:pt x="10076" y="0"/>
                  </a:cubicBezTo>
                  <a:close/>
                </a:path>
              </a:pathLst>
            </a:custGeom>
            <a:solidFill>
              <a:srgbClr val="F0F3FF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52046" cy="215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072548" y="1712597"/>
            <a:ext cx="373503" cy="373503"/>
          </a:xfrm>
          <a:custGeom>
            <a:avLst/>
            <a:gdLst/>
            <a:ahLst/>
            <a:cxnLst/>
            <a:rect r="r" b="b" t="t" l="l"/>
            <a:pathLst>
              <a:path h="373503" w="373503">
                <a:moveTo>
                  <a:pt x="0" y="0"/>
                </a:moveTo>
                <a:lnTo>
                  <a:pt x="373504" y="0"/>
                </a:lnTo>
                <a:lnTo>
                  <a:pt x="373504" y="373503"/>
                </a:lnTo>
                <a:lnTo>
                  <a:pt x="0" y="373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79166" y="7965181"/>
            <a:ext cx="866885" cy="1505250"/>
          </a:xfrm>
          <a:custGeom>
            <a:avLst/>
            <a:gdLst/>
            <a:ahLst/>
            <a:cxnLst/>
            <a:rect r="r" b="b" t="t" l="l"/>
            <a:pathLst>
              <a:path h="1505250" w="866885">
                <a:moveTo>
                  <a:pt x="0" y="0"/>
                </a:moveTo>
                <a:lnTo>
                  <a:pt x="866886" y="0"/>
                </a:lnTo>
                <a:lnTo>
                  <a:pt x="866886" y="1505250"/>
                </a:lnTo>
                <a:lnTo>
                  <a:pt x="0" y="1505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7593" y="7984755"/>
            <a:ext cx="1013010" cy="1273545"/>
          </a:xfrm>
          <a:custGeom>
            <a:avLst/>
            <a:gdLst/>
            <a:ahLst/>
            <a:cxnLst/>
            <a:rect r="r" b="b" t="t" l="l"/>
            <a:pathLst>
              <a:path h="1273545" w="1013010">
                <a:moveTo>
                  <a:pt x="0" y="0"/>
                </a:moveTo>
                <a:lnTo>
                  <a:pt x="1013011" y="0"/>
                </a:lnTo>
                <a:lnTo>
                  <a:pt x="1013011" y="1273545"/>
                </a:lnTo>
                <a:lnTo>
                  <a:pt x="0" y="12735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47204" y="638707"/>
            <a:ext cx="2134484" cy="159116"/>
          </a:xfrm>
          <a:custGeom>
            <a:avLst/>
            <a:gdLst/>
            <a:ahLst/>
            <a:cxnLst/>
            <a:rect r="r" b="b" t="t" l="l"/>
            <a:pathLst>
              <a:path h="159116" w="2134484">
                <a:moveTo>
                  <a:pt x="0" y="0"/>
                </a:moveTo>
                <a:lnTo>
                  <a:pt x="2134483" y="0"/>
                </a:lnTo>
                <a:lnTo>
                  <a:pt x="2134483" y="159116"/>
                </a:lnTo>
                <a:lnTo>
                  <a:pt x="0" y="1591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3382788"/>
            <a:ext cx="16230600" cy="347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2"/>
              </a:lnSpc>
            </a:pPr>
            <a:r>
              <a:rPr lang="en-US" sz="9958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FPGA设计与开发的工程设计流程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06313" y="894305"/>
            <a:ext cx="17275375" cy="8498389"/>
            <a:chOff x="0" y="0"/>
            <a:chExt cx="4549893" cy="22382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9893" cy="2238259"/>
            </a:xfrm>
            <a:custGeom>
              <a:avLst/>
              <a:gdLst/>
              <a:ahLst/>
              <a:cxnLst/>
              <a:rect r="r" b="b" t="t" l="l"/>
              <a:pathLst>
                <a:path h="2238259" w="4549893">
                  <a:moveTo>
                    <a:pt x="9859" y="0"/>
                  </a:moveTo>
                  <a:lnTo>
                    <a:pt x="4540034" y="0"/>
                  </a:lnTo>
                  <a:cubicBezTo>
                    <a:pt x="4545479" y="0"/>
                    <a:pt x="4549893" y="4414"/>
                    <a:pt x="4549893" y="9859"/>
                  </a:cubicBezTo>
                  <a:lnTo>
                    <a:pt x="4549893" y="2228400"/>
                  </a:lnTo>
                  <a:cubicBezTo>
                    <a:pt x="4549893" y="2233845"/>
                    <a:pt x="4545479" y="2238259"/>
                    <a:pt x="4540034" y="2238259"/>
                  </a:cubicBezTo>
                  <a:lnTo>
                    <a:pt x="9859" y="2238259"/>
                  </a:lnTo>
                  <a:cubicBezTo>
                    <a:pt x="4414" y="2238259"/>
                    <a:pt x="0" y="2233845"/>
                    <a:pt x="0" y="2228400"/>
                  </a:cubicBezTo>
                  <a:lnTo>
                    <a:pt x="0" y="9859"/>
                  </a:lnTo>
                  <a:cubicBezTo>
                    <a:pt x="0" y="4414"/>
                    <a:pt x="4414" y="0"/>
                    <a:pt x="98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565D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49893" cy="227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2068" y="1126592"/>
            <a:ext cx="16903863" cy="8033815"/>
            <a:chOff x="0" y="0"/>
            <a:chExt cx="4452046" cy="21159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52046" cy="2115902"/>
            </a:xfrm>
            <a:custGeom>
              <a:avLst/>
              <a:gdLst/>
              <a:ahLst/>
              <a:cxnLst/>
              <a:rect r="r" b="b" t="t" l="l"/>
              <a:pathLst>
                <a:path h="2115902" w="4452046">
                  <a:moveTo>
                    <a:pt x="10076" y="0"/>
                  </a:moveTo>
                  <a:lnTo>
                    <a:pt x="4441971" y="0"/>
                  </a:lnTo>
                  <a:cubicBezTo>
                    <a:pt x="4444643" y="0"/>
                    <a:pt x="4447206" y="1062"/>
                    <a:pt x="4449095" y="2951"/>
                  </a:cubicBezTo>
                  <a:cubicBezTo>
                    <a:pt x="4450985" y="4841"/>
                    <a:pt x="4452046" y="7404"/>
                    <a:pt x="4452046" y="10076"/>
                  </a:cubicBezTo>
                  <a:lnTo>
                    <a:pt x="4452046" y="2105826"/>
                  </a:lnTo>
                  <a:cubicBezTo>
                    <a:pt x="4452046" y="2108498"/>
                    <a:pt x="4450985" y="2111061"/>
                    <a:pt x="4449095" y="2112951"/>
                  </a:cubicBezTo>
                  <a:cubicBezTo>
                    <a:pt x="4447206" y="2114840"/>
                    <a:pt x="4444643" y="2115902"/>
                    <a:pt x="4441971" y="2115902"/>
                  </a:cubicBezTo>
                  <a:lnTo>
                    <a:pt x="10076" y="2115902"/>
                  </a:lnTo>
                  <a:cubicBezTo>
                    <a:pt x="7404" y="2115902"/>
                    <a:pt x="4841" y="2114840"/>
                    <a:pt x="2951" y="2112951"/>
                  </a:cubicBezTo>
                  <a:cubicBezTo>
                    <a:pt x="1062" y="2111061"/>
                    <a:pt x="0" y="2108498"/>
                    <a:pt x="0" y="2105826"/>
                  </a:cubicBezTo>
                  <a:lnTo>
                    <a:pt x="0" y="10076"/>
                  </a:lnTo>
                  <a:cubicBezTo>
                    <a:pt x="0" y="7404"/>
                    <a:pt x="1062" y="4841"/>
                    <a:pt x="2951" y="2951"/>
                  </a:cubicBezTo>
                  <a:cubicBezTo>
                    <a:pt x="4841" y="1062"/>
                    <a:pt x="7404" y="0"/>
                    <a:pt x="10076" y="0"/>
                  </a:cubicBezTo>
                  <a:close/>
                </a:path>
              </a:pathLst>
            </a:custGeom>
            <a:solidFill>
              <a:srgbClr val="F0F3FF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52046" cy="215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832786" y="485150"/>
            <a:ext cx="2853028" cy="3113813"/>
          </a:xfrm>
          <a:custGeom>
            <a:avLst/>
            <a:gdLst/>
            <a:ahLst/>
            <a:cxnLst/>
            <a:rect r="r" b="b" t="t" l="l"/>
            <a:pathLst>
              <a:path h="3113813" w="2853028">
                <a:moveTo>
                  <a:pt x="0" y="0"/>
                </a:moveTo>
                <a:lnTo>
                  <a:pt x="2853028" y="0"/>
                </a:lnTo>
                <a:lnTo>
                  <a:pt x="2853028" y="3113813"/>
                </a:lnTo>
                <a:lnTo>
                  <a:pt x="0" y="31138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15" r="0" b="-111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51455" y="1021817"/>
            <a:ext cx="10744477" cy="828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①需求分析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②器件选型、系统框架划分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③设计文本输入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④功能仿真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⑤分析综合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⑥布局布线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⑦时序仿真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⑧时序分析、时序约束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字由点字典黑 Bold"/>
                <a:ea typeface="字由点字典黑 Bold"/>
                <a:cs typeface="字由点字典黑 Bold"/>
                <a:sym typeface="字由点字典黑 Bold"/>
              </a:rPr>
              <a:t>⑨板级验证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①需求分析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4189" y="2985691"/>
            <a:ext cx="16230600" cy="476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545454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需求分析是指通过一系列的方法和技巧，如访谈、问卷调查、需求研讨会等，收集、分析、整理用户或客户对项目或产品的期望和要求，最终形成详细、明确、可验证的需求规格说明书（Requirement Specification）或用户故事（User Stories）等文档的过程。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用我们自己的话来说，就是对我们想要设计的项目进行一个总体分析，以便于后续项目的开发。明确用户需求，确定需要实现的功能，需要多少资源、I/O口的使用量，接口电平和系统功耗等，在此基础上进行FPGA选型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1022896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②器件选型、系统框架划分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4189" y="2985691"/>
            <a:ext cx="15975111" cy="613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545454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器件选型是硬件设计的基础，它直接影响到产品的性能、成本、可靠性以及后续的生产和维护。要根据任务要求，如系统的功能和复杂度，对工作速度和器件本身的资源、成本、以及连线的可布性等方面进行权衡，选择合适的设计方案和合适的器件类型。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 系统框架构建是硬件设计的核心，它决定了系统的整体结构和功能实现方式。 一般都采用自顶向下的设计方法，把系统分成若干个基本单元，然后再把每个基本单元划分为下一层次的基本单元，一直这样做下去，直到可以直接使用EDA元件库为止。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③设计文本输入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486089" cy="133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这里的设计输入其实就是我们在进行代码编写和原理图设计等过程，其中文书输入的方法包括三种：原理图输入、硬件描述语言输入、IP核输入。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④功能仿真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486089" cy="133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就是我们常说的RTL仿真，是指在理想状态对于设计实现的功能进行一个验证；将描述变为RTL级行为。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⑤分析综合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486089" cy="133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是对于代码的基本语法进行一个错误检查，并将RTL级行为变为基本的门极电路。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⑥布局布线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486089" cy="133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是对于器件的引脚配置等极性一个检查，并且将门极电路转换转变为具体的物理电路。便于后续的下板验证。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⑦时序仿真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486089" cy="408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FPGA时序仿真是在设计实现并经过布局布线后，使用布局布线后器件给出的模块和连线的延时信息，对电路的行为进行实际地估价。它的主要目的是验证电路在加入线延迟信息后，是否仍然能够满足设计构想，确保设计的正确性和可靠性。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⑧时序分析、时序约束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230600" cy="613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时序分析、时序约束：（在进行大规模项目时才采用，一般设计可以不用进行着两个操作）。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时序分析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是检查设计中所有触发器（D触发器）是否能够正常工作的过程，即检查触发器的同步端口（数据输入端口）的变化是否满足建立时间和保持时间的要求，以及异步端口（如异步复位端口）的变化是否满足恢复时间和移除时间的要求。</a:t>
            </a:r>
          </a:p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时序约束是设计者根据实际的系统功能，通过约束文件提出时序要求，以便FPGA编译工具能够根据这些要求进行布局布线和时序分析。</a:t>
            </a:r>
          </a:p>
          <a:p>
            <a:pPr algn="l">
              <a:lnSpc>
                <a:spcPts val="546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3420" y="384917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8511" y="719653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529" y="543847"/>
            <a:ext cx="2881172" cy="1498210"/>
          </a:xfrm>
          <a:custGeom>
            <a:avLst/>
            <a:gdLst/>
            <a:ahLst/>
            <a:cxnLst/>
            <a:rect r="r" b="b" t="t" l="l"/>
            <a:pathLst>
              <a:path h="1498210" w="2881172">
                <a:moveTo>
                  <a:pt x="0" y="0"/>
                </a:moveTo>
                <a:lnTo>
                  <a:pt x="2881173" y="0"/>
                </a:lnTo>
                <a:lnTo>
                  <a:pt x="2881173" y="1498209"/>
                </a:lnTo>
                <a:lnTo>
                  <a:pt x="0" y="149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89210">
            <a:off x="15296012" y="315087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207" y="743116"/>
            <a:ext cx="17371586" cy="8800767"/>
            <a:chOff x="0" y="0"/>
            <a:chExt cx="4575232" cy="231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5232" cy="2317897"/>
            </a:xfrm>
            <a:custGeom>
              <a:avLst/>
              <a:gdLst/>
              <a:ahLst/>
              <a:cxnLst/>
              <a:rect r="r" b="b" t="t" l="l"/>
              <a:pathLst>
                <a:path h="2317897" w="4575232">
                  <a:moveTo>
                    <a:pt x="7131" y="0"/>
                  </a:moveTo>
                  <a:lnTo>
                    <a:pt x="4568102" y="0"/>
                  </a:lnTo>
                  <a:cubicBezTo>
                    <a:pt x="4572040" y="0"/>
                    <a:pt x="4575232" y="3193"/>
                    <a:pt x="4575232" y="7131"/>
                  </a:cubicBezTo>
                  <a:lnTo>
                    <a:pt x="4575232" y="2310767"/>
                  </a:lnTo>
                  <a:cubicBezTo>
                    <a:pt x="4575232" y="2312658"/>
                    <a:pt x="4574481" y="2314472"/>
                    <a:pt x="4573144" y="2315809"/>
                  </a:cubicBezTo>
                  <a:cubicBezTo>
                    <a:pt x="4571807" y="2317146"/>
                    <a:pt x="4569993" y="2317897"/>
                    <a:pt x="4568102" y="2317897"/>
                  </a:cubicBezTo>
                  <a:lnTo>
                    <a:pt x="7131" y="2317897"/>
                  </a:lnTo>
                  <a:cubicBezTo>
                    <a:pt x="3193" y="2317897"/>
                    <a:pt x="0" y="2314705"/>
                    <a:pt x="0" y="2310767"/>
                  </a:cubicBezTo>
                  <a:lnTo>
                    <a:pt x="0" y="7131"/>
                  </a:lnTo>
                  <a:cubicBezTo>
                    <a:pt x="0" y="3193"/>
                    <a:pt x="3193" y="0"/>
                    <a:pt x="7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565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5232" cy="235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387" y="912713"/>
            <a:ext cx="17015226" cy="8461574"/>
            <a:chOff x="0" y="0"/>
            <a:chExt cx="4481376" cy="2228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1376" cy="2228563"/>
            </a:xfrm>
            <a:custGeom>
              <a:avLst/>
              <a:gdLst/>
              <a:ahLst/>
              <a:cxnLst/>
              <a:rect r="r" b="b" t="t" l="l"/>
              <a:pathLst>
                <a:path h="2228563" w="4481376">
                  <a:moveTo>
                    <a:pt x="8645" y="0"/>
                  </a:moveTo>
                  <a:lnTo>
                    <a:pt x="4472732" y="0"/>
                  </a:lnTo>
                  <a:cubicBezTo>
                    <a:pt x="4475024" y="0"/>
                    <a:pt x="4477223" y="911"/>
                    <a:pt x="4478844" y="2532"/>
                  </a:cubicBezTo>
                  <a:cubicBezTo>
                    <a:pt x="4480466" y="4153"/>
                    <a:pt x="4481376" y="6352"/>
                    <a:pt x="4481376" y="8645"/>
                  </a:cubicBezTo>
                  <a:lnTo>
                    <a:pt x="4481376" y="2219918"/>
                  </a:lnTo>
                  <a:cubicBezTo>
                    <a:pt x="4481376" y="2224692"/>
                    <a:pt x="4477506" y="2228563"/>
                    <a:pt x="4472732" y="2228563"/>
                  </a:cubicBezTo>
                  <a:lnTo>
                    <a:pt x="8645" y="2228563"/>
                  </a:lnTo>
                  <a:cubicBezTo>
                    <a:pt x="6352" y="2228563"/>
                    <a:pt x="4153" y="2227652"/>
                    <a:pt x="2532" y="2226031"/>
                  </a:cubicBezTo>
                  <a:cubicBezTo>
                    <a:pt x="911" y="2224410"/>
                    <a:pt x="0" y="2222211"/>
                    <a:pt x="0" y="2219918"/>
                  </a:cubicBezTo>
                  <a:lnTo>
                    <a:pt x="0" y="8645"/>
                  </a:lnTo>
                  <a:cubicBezTo>
                    <a:pt x="0" y="6352"/>
                    <a:pt x="911" y="4153"/>
                    <a:pt x="2532" y="2532"/>
                  </a:cubicBezTo>
                  <a:cubicBezTo>
                    <a:pt x="4153" y="911"/>
                    <a:pt x="6352" y="0"/>
                    <a:pt x="8645" y="0"/>
                  </a:cubicBezTo>
                  <a:close/>
                </a:path>
              </a:pathLst>
            </a:custGeom>
            <a:solidFill>
              <a:srgbClr val="F0F3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81376" cy="226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90466"/>
            <a:ext cx="16230600" cy="5821579"/>
            <a:chOff x="0" y="0"/>
            <a:chExt cx="4274726" cy="153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533255"/>
            </a:xfrm>
            <a:custGeom>
              <a:avLst/>
              <a:gdLst/>
              <a:ahLst/>
              <a:cxnLst/>
              <a:rect r="r" b="b" t="t" l="l"/>
              <a:pathLst>
                <a:path h="1533255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526100"/>
                  </a:lnTo>
                  <a:cubicBezTo>
                    <a:pt x="4274726" y="1527998"/>
                    <a:pt x="4273972" y="1529818"/>
                    <a:pt x="4272630" y="1531160"/>
                  </a:cubicBezTo>
                  <a:cubicBezTo>
                    <a:pt x="4271289" y="1532502"/>
                    <a:pt x="4269468" y="1533255"/>
                    <a:pt x="4267571" y="1533255"/>
                  </a:cubicBezTo>
                  <a:lnTo>
                    <a:pt x="7155" y="1533255"/>
                  </a:lnTo>
                  <a:cubicBezTo>
                    <a:pt x="5257" y="1533255"/>
                    <a:pt x="3437" y="1532502"/>
                    <a:pt x="2096" y="1531160"/>
                  </a:cubicBezTo>
                  <a:cubicBezTo>
                    <a:pt x="754" y="1529818"/>
                    <a:pt x="0" y="1527998"/>
                    <a:pt x="0" y="1526100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E4E9FF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74726" cy="15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4108" y="1003864"/>
            <a:ext cx="8368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⑨板级验证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5691"/>
            <a:ext cx="16486089" cy="408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        FPGA板级验证</a:t>
            </a:r>
            <a:r>
              <a:rPr lang="en-US" sz="3646" spc="109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是FPGA开发流程中的关键步骤之一，它涉及将设计下载到实际的FPGA板上，并在实际硬件环境中进行测试和验证。FPGA板级验证是通过在实际FPGA板上运行设计，以验证其功能、性能和时序的正确性。这一过程通常包括下载比特流文件（.bit文件）、配置FPGA板、搭建测试环境、运行测试向量以及分析结果等步骤。</a:t>
            </a:r>
          </a:p>
          <a:p>
            <a:pPr algn="l">
              <a:lnSpc>
                <a:spcPts val="546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889210">
            <a:off x="-1979363" y="7975748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40"/>
                </a:lnTo>
                <a:lnTo>
                  <a:pt x="0" y="34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89210">
            <a:off x="16254814" y="172379"/>
            <a:ext cx="4971351" cy="3453939"/>
          </a:xfrm>
          <a:custGeom>
            <a:avLst/>
            <a:gdLst/>
            <a:ahLst/>
            <a:cxnLst/>
            <a:rect r="r" b="b" t="t" l="l"/>
            <a:pathLst>
              <a:path h="3453939" w="4971351">
                <a:moveTo>
                  <a:pt x="0" y="0"/>
                </a:moveTo>
                <a:lnTo>
                  <a:pt x="4971351" y="0"/>
                </a:lnTo>
                <a:lnTo>
                  <a:pt x="4971351" y="3453939"/>
                </a:lnTo>
                <a:lnTo>
                  <a:pt x="0" y="3453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52924" y="553414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38015" y="7365031"/>
            <a:ext cx="5096069" cy="2705549"/>
          </a:xfrm>
          <a:custGeom>
            <a:avLst/>
            <a:gdLst/>
            <a:ahLst/>
            <a:cxnLst/>
            <a:rect r="r" b="b" t="t" l="l"/>
            <a:pathLst>
              <a:path h="2705549" w="5096069">
                <a:moveTo>
                  <a:pt x="0" y="0"/>
                </a:moveTo>
                <a:lnTo>
                  <a:pt x="5096069" y="0"/>
                </a:lnTo>
                <a:lnTo>
                  <a:pt x="5096069" y="2705549"/>
                </a:lnTo>
                <a:lnTo>
                  <a:pt x="0" y="270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6313" y="1204329"/>
            <a:ext cx="17275375" cy="8498389"/>
            <a:chOff x="0" y="0"/>
            <a:chExt cx="4549893" cy="2238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49893" cy="2238259"/>
            </a:xfrm>
            <a:custGeom>
              <a:avLst/>
              <a:gdLst/>
              <a:ahLst/>
              <a:cxnLst/>
              <a:rect r="r" b="b" t="t" l="l"/>
              <a:pathLst>
                <a:path h="2238259" w="4549893">
                  <a:moveTo>
                    <a:pt x="9859" y="0"/>
                  </a:moveTo>
                  <a:lnTo>
                    <a:pt x="4540034" y="0"/>
                  </a:lnTo>
                  <a:cubicBezTo>
                    <a:pt x="4545479" y="0"/>
                    <a:pt x="4549893" y="4414"/>
                    <a:pt x="4549893" y="9859"/>
                  </a:cubicBezTo>
                  <a:lnTo>
                    <a:pt x="4549893" y="2228400"/>
                  </a:lnTo>
                  <a:cubicBezTo>
                    <a:pt x="4549893" y="2233845"/>
                    <a:pt x="4545479" y="2238259"/>
                    <a:pt x="4540034" y="2238259"/>
                  </a:cubicBezTo>
                  <a:lnTo>
                    <a:pt x="9859" y="2238259"/>
                  </a:lnTo>
                  <a:cubicBezTo>
                    <a:pt x="4414" y="2238259"/>
                    <a:pt x="0" y="2233845"/>
                    <a:pt x="0" y="2228400"/>
                  </a:cubicBezTo>
                  <a:lnTo>
                    <a:pt x="0" y="9859"/>
                  </a:lnTo>
                  <a:cubicBezTo>
                    <a:pt x="0" y="4414"/>
                    <a:pt x="4414" y="0"/>
                    <a:pt x="98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565D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49893" cy="227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2068" y="1436616"/>
            <a:ext cx="16903863" cy="8033815"/>
            <a:chOff x="0" y="0"/>
            <a:chExt cx="4452046" cy="2115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52046" cy="2115902"/>
            </a:xfrm>
            <a:custGeom>
              <a:avLst/>
              <a:gdLst/>
              <a:ahLst/>
              <a:cxnLst/>
              <a:rect r="r" b="b" t="t" l="l"/>
              <a:pathLst>
                <a:path h="2115902" w="4452046">
                  <a:moveTo>
                    <a:pt x="10076" y="0"/>
                  </a:moveTo>
                  <a:lnTo>
                    <a:pt x="4441971" y="0"/>
                  </a:lnTo>
                  <a:cubicBezTo>
                    <a:pt x="4444643" y="0"/>
                    <a:pt x="4447206" y="1062"/>
                    <a:pt x="4449095" y="2951"/>
                  </a:cubicBezTo>
                  <a:cubicBezTo>
                    <a:pt x="4450985" y="4841"/>
                    <a:pt x="4452046" y="7404"/>
                    <a:pt x="4452046" y="10076"/>
                  </a:cubicBezTo>
                  <a:lnTo>
                    <a:pt x="4452046" y="2105826"/>
                  </a:lnTo>
                  <a:cubicBezTo>
                    <a:pt x="4452046" y="2108498"/>
                    <a:pt x="4450985" y="2111061"/>
                    <a:pt x="4449095" y="2112951"/>
                  </a:cubicBezTo>
                  <a:cubicBezTo>
                    <a:pt x="4447206" y="2114840"/>
                    <a:pt x="4444643" y="2115902"/>
                    <a:pt x="4441971" y="2115902"/>
                  </a:cubicBezTo>
                  <a:lnTo>
                    <a:pt x="10076" y="2115902"/>
                  </a:lnTo>
                  <a:cubicBezTo>
                    <a:pt x="7404" y="2115902"/>
                    <a:pt x="4841" y="2114840"/>
                    <a:pt x="2951" y="2112951"/>
                  </a:cubicBezTo>
                  <a:cubicBezTo>
                    <a:pt x="1062" y="2111061"/>
                    <a:pt x="0" y="2108498"/>
                    <a:pt x="0" y="2105826"/>
                  </a:cubicBezTo>
                  <a:lnTo>
                    <a:pt x="0" y="10076"/>
                  </a:lnTo>
                  <a:cubicBezTo>
                    <a:pt x="0" y="7404"/>
                    <a:pt x="1062" y="4841"/>
                    <a:pt x="2951" y="2951"/>
                  </a:cubicBezTo>
                  <a:cubicBezTo>
                    <a:pt x="4841" y="1062"/>
                    <a:pt x="7404" y="0"/>
                    <a:pt x="10076" y="0"/>
                  </a:cubicBezTo>
                  <a:close/>
                </a:path>
              </a:pathLst>
            </a:custGeom>
            <a:solidFill>
              <a:srgbClr val="F0F3FF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52046" cy="215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2299214">
            <a:off x="569305" y="4209076"/>
            <a:ext cx="6289440" cy="4369706"/>
          </a:xfrm>
          <a:custGeom>
            <a:avLst/>
            <a:gdLst/>
            <a:ahLst/>
            <a:cxnLst/>
            <a:rect r="r" b="b" t="t" l="l"/>
            <a:pathLst>
              <a:path h="4369706" w="6289440">
                <a:moveTo>
                  <a:pt x="0" y="0"/>
                </a:moveTo>
                <a:lnTo>
                  <a:pt x="6289440" y="0"/>
                </a:lnTo>
                <a:lnTo>
                  <a:pt x="6289440" y="4369706"/>
                </a:lnTo>
                <a:lnTo>
                  <a:pt x="0" y="4369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4098" y="2439397"/>
            <a:ext cx="6706132" cy="5540941"/>
          </a:xfrm>
          <a:custGeom>
            <a:avLst/>
            <a:gdLst/>
            <a:ahLst/>
            <a:cxnLst/>
            <a:rect r="r" b="b" t="t" l="l"/>
            <a:pathLst>
              <a:path h="5540941" w="6706132">
                <a:moveTo>
                  <a:pt x="0" y="0"/>
                </a:moveTo>
                <a:lnTo>
                  <a:pt x="6706132" y="0"/>
                </a:lnTo>
                <a:lnTo>
                  <a:pt x="6706132" y="5540941"/>
                </a:lnTo>
                <a:lnTo>
                  <a:pt x="0" y="55409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72548" y="1712597"/>
            <a:ext cx="373503" cy="373503"/>
          </a:xfrm>
          <a:custGeom>
            <a:avLst/>
            <a:gdLst/>
            <a:ahLst/>
            <a:cxnLst/>
            <a:rect r="r" b="b" t="t" l="l"/>
            <a:pathLst>
              <a:path h="373503" w="373503">
                <a:moveTo>
                  <a:pt x="0" y="0"/>
                </a:moveTo>
                <a:lnTo>
                  <a:pt x="373504" y="0"/>
                </a:lnTo>
                <a:lnTo>
                  <a:pt x="373504" y="373503"/>
                </a:lnTo>
                <a:lnTo>
                  <a:pt x="0" y="3735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79166" y="7965181"/>
            <a:ext cx="866885" cy="1505250"/>
          </a:xfrm>
          <a:custGeom>
            <a:avLst/>
            <a:gdLst/>
            <a:ahLst/>
            <a:cxnLst/>
            <a:rect r="r" b="b" t="t" l="l"/>
            <a:pathLst>
              <a:path h="1505250" w="866885">
                <a:moveTo>
                  <a:pt x="0" y="0"/>
                </a:moveTo>
                <a:lnTo>
                  <a:pt x="866886" y="0"/>
                </a:lnTo>
                <a:lnTo>
                  <a:pt x="866886" y="1505250"/>
                </a:lnTo>
                <a:lnTo>
                  <a:pt x="0" y="1505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93281" y="6262657"/>
            <a:ext cx="536887" cy="932245"/>
          </a:xfrm>
          <a:custGeom>
            <a:avLst/>
            <a:gdLst/>
            <a:ahLst/>
            <a:cxnLst/>
            <a:rect r="r" b="b" t="t" l="l"/>
            <a:pathLst>
              <a:path h="932245" w="536887">
                <a:moveTo>
                  <a:pt x="0" y="0"/>
                </a:moveTo>
                <a:lnTo>
                  <a:pt x="536887" y="0"/>
                </a:lnTo>
                <a:lnTo>
                  <a:pt x="536887" y="932245"/>
                </a:lnTo>
                <a:lnTo>
                  <a:pt x="0" y="9322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67593" y="7984755"/>
            <a:ext cx="1013010" cy="1273545"/>
          </a:xfrm>
          <a:custGeom>
            <a:avLst/>
            <a:gdLst/>
            <a:ahLst/>
            <a:cxnLst/>
            <a:rect r="r" b="b" t="t" l="l"/>
            <a:pathLst>
              <a:path h="1273545" w="1013010">
                <a:moveTo>
                  <a:pt x="0" y="0"/>
                </a:moveTo>
                <a:lnTo>
                  <a:pt x="1013011" y="0"/>
                </a:lnTo>
                <a:lnTo>
                  <a:pt x="1013011" y="1273545"/>
                </a:lnTo>
                <a:lnTo>
                  <a:pt x="0" y="12735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47204" y="638707"/>
            <a:ext cx="2134484" cy="159116"/>
          </a:xfrm>
          <a:custGeom>
            <a:avLst/>
            <a:gdLst/>
            <a:ahLst/>
            <a:cxnLst/>
            <a:rect r="r" b="b" t="t" l="l"/>
            <a:pathLst>
              <a:path h="159116" w="2134484">
                <a:moveTo>
                  <a:pt x="0" y="0"/>
                </a:moveTo>
                <a:lnTo>
                  <a:pt x="2134483" y="0"/>
                </a:lnTo>
                <a:lnTo>
                  <a:pt x="2134483" y="159116"/>
                </a:lnTo>
                <a:lnTo>
                  <a:pt x="0" y="1591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700959" y="3192288"/>
            <a:ext cx="7699060" cy="343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203DCA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DAGyLgnQsv8</dc:identifier>
  <dcterms:modified xsi:type="dcterms:W3CDTF">2011-08-01T06:04:30Z</dcterms:modified>
  <cp:revision>1</cp:revision>
  <dc:title>FPGA 设计与开发的工程设计流程</dc:title>
</cp:coreProperties>
</file>