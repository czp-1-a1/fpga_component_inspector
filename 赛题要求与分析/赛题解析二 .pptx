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334" r:id="rId3"/>
    <p:sldId id="325" r:id="rId5"/>
    <p:sldId id="326" r:id="rId6"/>
    <p:sldId id="331" r:id="rId7"/>
    <p:sldId id="335" r:id="rId8"/>
    <p:sldId id="336" r:id="rId9"/>
    <p:sldId id="337" r:id="rId10"/>
    <p:sldId id="338" r:id="rId11"/>
    <p:sldId id="339" r:id="rId12"/>
    <p:sldId id="340" r:id="rId13"/>
    <p:sldId id="357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9" r:id="rId22"/>
    <p:sldId id="359" r:id="rId23"/>
    <p:sldId id="360" r:id="rId24"/>
    <p:sldId id="362" r:id="rId25"/>
    <p:sldId id="353" r:id="rId26"/>
    <p:sldId id="354" r:id="rId27"/>
    <p:sldId id="356" r:id="rId28"/>
    <p:sldId id="355" r:id="rId29"/>
    <p:sldId id="351" r:id="rId30"/>
    <p:sldId id="352" r:id="rId31"/>
    <p:sldId id="330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22" userDrawn="1">
          <p15:clr>
            <a:srgbClr val="A4A3A4"/>
          </p15:clr>
        </p15:guide>
        <p15:guide id="4" pos="4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963"/>
    <a:srgbClr val="132141"/>
    <a:srgbClr val="CD1220"/>
    <a:srgbClr val="CD1020"/>
    <a:srgbClr val="C7E8F1"/>
    <a:srgbClr val="F5FAFC"/>
    <a:srgbClr val="A3D9EB"/>
    <a:srgbClr val="1D2D4E"/>
    <a:srgbClr val="007141"/>
    <a:srgbClr val="D4A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/>
    <p:restoredTop sz="94674"/>
  </p:normalViewPr>
  <p:slideViewPr>
    <p:cSldViewPr snapToGrid="0" snapToObjects="1" showGuides="1">
      <p:cViewPr varScale="1">
        <p:scale>
          <a:sx n="89" d="100"/>
          <a:sy n="89" d="100"/>
        </p:scale>
        <p:origin x="110" y="158"/>
      </p:cViewPr>
      <p:guideLst>
        <p:guide orient="horz" pos="922"/>
        <p:guide pos="4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2" d="100"/>
          <a:sy n="52" d="100"/>
        </p:scale>
        <p:origin x="267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D4B90-B4FA-4E92-B4CD-F0D19569D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71485-AD6B-4F47-99F7-3477F2621E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E42A5-2AE8-9343-B6DF-4AB70CEE408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logo2.png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logo2.png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logo2.png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logo2.png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345F-BA80-C045-A614-F3A35B2F84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8" y="0"/>
            <a:ext cx="12196482" cy="6858000"/>
          </a:xfrm>
          <a:prstGeom prst="rect">
            <a:avLst/>
          </a:prstGeom>
        </p:spPr>
      </p:pic>
      <p:sp>
        <p:nvSpPr>
          <p:cNvPr id="17" name="直角三角形 16"/>
          <p:cNvSpPr/>
          <p:nvPr userDrawn="1"/>
        </p:nvSpPr>
        <p:spPr>
          <a:xfrm flipH="1">
            <a:off x="8759008" y="0"/>
            <a:ext cx="3445692" cy="6858000"/>
          </a:xfrm>
          <a:prstGeom prst="rtTriangle">
            <a:avLst/>
          </a:prstGeom>
          <a:solidFill>
            <a:srgbClr val="1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9605" y="1213428"/>
            <a:ext cx="2455095" cy="564457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9795" y="468072"/>
            <a:ext cx="2004406" cy="401481"/>
          </a:xfrm>
          <a:prstGeom prst="rect">
            <a:avLst/>
          </a:prstGeom>
        </p:spPr>
      </p:pic>
      <p:sp>
        <p:nvSpPr>
          <p:cNvPr id="20" name="直角三角形 19"/>
          <p:cNvSpPr/>
          <p:nvPr userDrawn="1"/>
        </p:nvSpPr>
        <p:spPr>
          <a:xfrm rot="10800000" flipH="1">
            <a:off x="-8218" y="0"/>
            <a:ext cx="1117925" cy="2225020"/>
          </a:xfrm>
          <a:prstGeom prst="rtTriangle">
            <a:avLst/>
          </a:prstGeom>
          <a:solidFill>
            <a:srgbClr val="1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6611779"/>
            <a:ext cx="2624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©2025 Anlogic Infotech, all rights reserved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Roboto" pitchFamily="2" charset="0"/>
            </a:endParaRPr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6482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482" y="0"/>
            <a:ext cx="12196482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30600" y="345100"/>
            <a:ext cx="2552185" cy="51120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0" y="6611779"/>
            <a:ext cx="2624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©2025 Anlogic Infotech, all rights reserved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Roboto" pitchFamily="2" charset="0"/>
            </a:endParaRPr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6482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 rot="16200000">
            <a:off x="-2932718" y="2920017"/>
            <a:ext cx="6858000" cy="1017963"/>
          </a:xfrm>
          <a:custGeom>
            <a:avLst/>
            <a:gdLst/>
            <a:ahLst/>
            <a:cxnLst/>
            <a:rect l="l" t="t" r="r" b="b"/>
            <a:pathLst>
              <a:path w="6007894" h="891778">
                <a:moveTo>
                  <a:pt x="1149548" y="154781"/>
                </a:moveTo>
                <a:cubicBezTo>
                  <a:pt x="1095177" y="154781"/>
                  <a:pt x="1053604" y="174525"/>
                  <a:pt x="1024831" y="214014"/>
                </a:cubicBezTo>
                <a:cubicBezTo>
                  <a:pt x="996057" y="253504"/>
                  <a:pt x="981670" y="304403"/>
                  <a:pt x="981670" y="366712"/>
                </a:cubicBezTo>
                <a:lnTo>
                  <a:pt x="981670" y="523875"/>
                </a:lnTo>
                <a:cubicBezTo>
                  <a:pt x="981670" y="586581"/>
                  <a:pt x="996256" y="637778"/>
                  <a:pt x="1025426" y="677465"/>
                </a:cubicBezTo>
                <a:cubicBezTo>
                  <a:pt x="1054596" y="717153"/>
                  <a:pt x="1096367" y="736997"/>
                  <a:pt x="1150739" y="736997"/>
                </a:cubicBezTo>
                <a:cubicBezTo>
                  <a:pt x="1203524" y="736997"/>
                  <a:pt x="1244402" y="717153"/>
                  <a:pt x="1273374" y="677465"/>
                </a:cubicBezTo>
                <a:cubicBezTo>
                  <a:pt x="1302346" y="637778"/>
                  <a:pt x="1316831" y="586581"/>
                  <a:pt x="1316831" y="523875"/>
                </a:cubicBezTo>
                <a:lnTo>
                  <a:pt x="1316831" y="366712"/>
                </a:lnTo>
                <a:cubicBezTo>
                  <a:pt x="1316831" y="304800"/>
                  <a:pt x="1302246" y="254000"/>
                  <a:pt x="1273076" y="214312"/>
                </a:cubicBezTo>
                <a:cubicBezTo>
                  <a:pt x="1243905" y="174625"/>
                  <a:pt x="1202730" y="154781"/>
                  <a:pt x="1149548" y="154781"/>
                </a:cubicBezTo>
                <a:close/>
                <a:moveTo>
                  <a:pt x="4630936" y="12501"/>
                </a:moveTo>
                <a:lnTo>
                  <a:pt x="5286375" y="12501"/>
                </a:lnTo>
                <a:lnTo>
                  <a:pt x="5286375" y="167282"/>
                </a:lnTo>
                <a:lnTo>
                  <a:pt x="5057180" y="167282"/>
                </a:lnTo>
                <a:lnTo>
                  <a:pt x="5057180" y="879276"/>
                </a:lnTo>
                <a:lnTo>
                  <a:pt x="4855964" y="879276"/>
                </a:lnTo>
                <a:lnTo>
                  <a:pt x="4855964" y="167282"/>
                </a:lnTo>
                <a:lnTo>
                  <a:pt x="4630936" y="167282"/>
                </a:lnTo>
                <a:close/>
                <a:moveTo>
                  <a:pt x="3845123" y="12501"/>
                </a:moveTo>
                <a:lnTo>
                  <a:pt x="4046339" y="12501"/>
                </a:lnTo>
                <a:lnTo>
                  <a:pt x="4363641" y="557212"/>
                </a:lnTo>
                <a:lnTo>
                  <a:pt x="4367213" y="556021"/>
                </a:lnTo>
                <a:lnTo>
                  <a:pt x="4367213" y="12501"/>
                </a:lnTo>
                <a:lnTo>
                  <a:pt x="4567833" y="12501"/>
                </a:lnTo>
                <a:lnTo>
                  <a:pt x="4567833" y="879276"/>
                </a:lnTo>
                <a:lnTo>
                  <a:pt x="4367213" y="879276"/>
                </a:lnTo>
                <a:lnTo>
                  <a:pt x="4049911" y="333970"/>
                </a:lnTo>
                <a:lnTo>
                  <a:pt x="4046339" y="335161"/>
                </a:lnTo>
                <a:lnTo>
                  <a:pt x="4046339" y="879276"/>
                </a:lnTo>
                <a:lnTo>
                  <a:pt x="3845123" y="879276"/>
                </a:lnTo>
                <a:close/>
                <a:moveTo>
                  <a:pt x="3168848" y="12501"/>
                </a:moveTo>
                <a:lnTo>
                  <a:pt x="3736777" y="12501"/>
                </a:lnTo>
                <a:lnTo>
                  <a:pt x="3736777" y="167282"/>
                </a:lnTo>
                <a:lnTo>
                  <a:pt x="3370064" y="167282"/>
                </a:lnTo>
                <a:lnTo>
                  <a:pt x="3370064" y="353615"/>
                </a:lnTo>
                <a:lnTo>
                  <a:pt x="3675459" y="353615"/>
                </a:lnTo>
                <a:lnTo>
                  <a:pt x="3675459" y="508396"/>
                </a:lnTo>
                <a:lnTo>
                  <a:pt x="3370064" y="508396"/>
                </a:lnTo>
                <a:lnTo>
                  <a:pt x="3370064" y="724495"/>
                </a:lnTo>
                <a:lnTo>
                  <a:pt x="3736181" y="724495"/>
                </a:lnTo>
                <a:lnTo>
                  <a:pt x="3736181" y="879276"/>
                </a:lnTo>
                <a:lnTo>
                  <a:pt x="3168848" y="879276"/>
                </a:lnTo>
                <a:close/>
                <a:moveTo>
                  <a:pt x="2430661" y="12501"/>
                </a:moveTo>
                <a:lnTo>
                  <a:pt x="3086100" y="12501"/>
                </a:lnTo>
                <a:lnTo>
                  <a:pt x="3086100" y="167282"/>
                </a:lnTo>
                <a:lnTo>
                  <a:pt x="2856905" y="167282"/>
                </a:lnTo>
                <a:lnTo>
                  <a:pt x="2856905" y="879276"/>
                </a:lnTo>
                <a:lnTo>
                  <a:pt x="2655689" y="879276"/>
                </a:lnTo>
                <a:lnTo>
                  <a:pt x="2655689" y="167282"/>
                </a:lnTo>
                <a:lnTo>
                  <a:pt x="2430661" y="167282"/>
                </a:lnTo>
                <a:close/>
                <a:moveTo>
                  <a:pt x="1644848" y="12501"/>
                </a:moveTo>
                <a:lnTo>
                  <a:pt x="1846064" y="12501"/>
                </a:lnTo>
                <a:lnTo>
                  <a:pt x="2163366" y="557212"/>
                </a:lnTo>
                <a:lnTo>
                  <a:pt x="2166938" y="556021"/>
                </a:lnTo>
                <a:lnTo>
                  <a:pt x="2166938" y="12501"/>
                </a:lnTo>
                <a:lnTo>
                  <a:pt x="2367558" y="12501"/>
                </a:lnTo>
                <a:lnTo>
                  <a:pt x="2367558" y="879276"/>
                </a:lnTo>
                <a:lnTo>
                  <a:pt x="2166938" y="879276"/>
                </a:lnTo>
                <a:lnTo>
                  <a:pt x="1849636" y="333970"/>
                </a:lnTo>
                <a:lnTo>
                  <a:pt x="1846064" y="335161"/>
                </a:lnTo>
                <a:lnTo>
                  <a:pt x="1846064" y="879276"/>
                </a:lnTo>
                <a:lnTo>
                  <a:pt x="1644848" y="879276"/>
                </a:lnTo>
                <a:close/>
                <a:moveTo>
                  <a:pt x="5670947" y="0"/>
                </a:moveTo>
                <a:cubicBezTo>
                  <a:pt x="5769769" y="0"/>
                  <a:pt x="5849342" y="23118"/>
                  <a:pt x="5909667" y="69353"/>
                </a:cubicBezTo>
                <a:cubicBezTo>
                  <a:pt x="5969992" y="115589"/>
                  <a:pt x="5999162" y="180776"/>
                  <a:pt x="5997178" y="264914"/>
                </a:cubicBezTo>
                <a:lnTo>
                  <a:pt x="5995987" y="268486"/>
                </a:lnTo>
                <a:lnTo>
                  <a:pt x="5800725" y="268486"/>
                </a:lnTo>
                <a:cubicBezTo>
                  <a:pt x="5800725" y="227607"/>
                  <a:pt x="5789612" y="197941"/>
                  <a:pt x="5767387" y="179486"/>
                </a:cubicBezTo>
                <a:cubicBezTo>
                  <a:pt x="5745163" y="161032"/>
                  <a:pt x="5711626" y="151804"/>
                  <a:pt x="5666780" y="151804"/>
                </a:cubicBezTo>
                <a:cubicBezTo>
                  <a:pt x="5630267" y="151804"/>
                  <a:pt x="5601493" y="160734"/>
                  <a:pt x="5580459" y="178593"/>
                </a:cubicBezTo>
                <a:cubicBezTo>
                  <a:pt x="5559425" y="196453"/>
                  <a:pt x="5548908" y="218479"/>
                  <a:pt x="5548908" y="244673"/>
                </a:cubicBezTo>
                <a:cubicBezTo>
                  <a:pt x="5548908" y="270073"/>
                  <a:pt x="5559723" y="290413"/>
                  <a:pt x="5581352" y="305693"/>
                </a:cubicBezTo>
                <a:cubicBezTo>
                  <a:pt x="5602982" y="320972"/>
                  <a:pt x="5643364" y="340121"/>
                  <a:pt x="5702498" y="363140"/>
                </a:cubicBezTo>
                <a:cubicBezTo>
                  <a:pt x="5802908" y="392906"/>
                  <a:pt x="5878909" y="429220"/>
                  <a:pt x="5930503" y="472082"/>
                </a:cubicBezTo>
                <a:cubicBezTo>
                  <a:pt x="5982097" y="514945"/>
                  <a:pt x="6007894" y="573682"/>
                  <a:pt x="6007894" y="648295"/>
                </a:cubicBezTo>
                <a:cubicBezTo>
                  <a:pt x="6007894" y="724495"/>
                  <a:pt x="5978128" y="784125"/>
                  <a:pt x="5918597" y="827186"/>
                </a:cubicBezTo>
                <a:cubicBezTo>
                  <a:pt x="5859065" y="870247"/>
                  <a:pt x="5780087" y="891778"/>
                  <a:pt x="5681662" y="891778"/>
                </a:cubicBezTo>
                <a:cubicBezTo>
                  <a:pt x="5583634" y="891778"/>
                  <a:pt x="5500588" y="868660"/>
                  <a:pt x="5432524" y="822424"/>
                </a:cubicBezTo>
                <a:cubicBezTo>
                  <a:pt x="5364460" y="776188"/>
                  <a:pt x="5331420" y="703461"/>
                  <a:pt x="5333405" y="604242"/>
                </a:cubicBezTo>
                <a:lnTo>
                  <a:pt x="5334595" y="600670"/>
                </a:lnTo>
                <a:lnTo>
                  <a:pt x="5530453" y="600670"/>
                </a:lnTo>
                <a:cubicBezTo>
                  <a:pt x="5530453" y="651073"/>
                  <a:pt x="5542855" y="686891"/>
                  <a:pt x="5567660" y="708124"/>
                </a:cubicBezTo>
                <a:cubicBezTo>
                  <a:pt x="5592465" y="729357"/>
                  <a:pt x="5630465" y="739973"/>
                  <a:pt x="5681662" y="739973"/>
                </a:cubicBezTo>
                <a:cubicBezTo>
                  <a:pt x="5723731" y="739973"/>
                  <a:pt x="5755084" y="731639"/>
                  <a:pt x="5775722" y="714970"/>
                </a:cubicBezTo>
                <a:cubicBezTo>
                  <a:pt x="5796359" y="698301"/>
                  <a:pt x="5806678" y="676473"/>
                  <a:pt x="5806678" y="649486"/>
                </a:cubicBezTo>
                <a:cubicBezTo>
                  <a:pt x="5806678" y="618529"/>
                  <a:pt x="5796558" y="594816"/>
                  <a:pt x="5776317" y="578346"/>
                </a:cubicBezTo>
                <a:cubicBezTo>
                  <a:pt x="5756076" y="561875"/>
                  <a:pt x="5719365" y="544314"/>
                  <a:pt x="5666184" y="525661"/>
                </a:cubicBezTo>
                <a:cubicBezTo>
                  <a:pt x="5558631" y="490736"/>
                  <a:pt x="5478760" y="453528"/>
                  <a:pt x="5426571" y="414039"/>
                </a:cubicBezTo>
                <a:cubicBezTo>
                  <a:pt x="5374382" y="374550"/>
                  <a:pt x="5348287" y="317698"/>
                  <a:pt x="5348287" y="243482"/>
                </a:cubicBezTo>
                <a:cubicBezTo>
                  <a:pt x="5348287" y="170854"/>
                  <a:pt x="5378648" y="112117"/>
                  <a:pt x="5439370" y="67270"/>
                </a:cubicBezTo>
                <a:cubicBezTo>
                  <a:pt x="5500092" y="22423"/>
                  <a:pt x="5577284" y="0"/>
                  <a:pt x="5670947" y="0"/>
                </a:cubicBezTo>
                <a:close/>
                <a:moveTo>
                  <a:pt x="1149548" y="0"/>
                </a:moveTo>
                <a:cubicBezTo>
                  <a:pt x="1258292" y="0"/>
                  <a:pt x="1346796" y="34726"/>
                  <a:pt x="1415058" y="104179"/>
                </a:cubicBezTo>
                <a:cubicBezTo>
                  <a:pt x="1483320" y="173632"/>
                  <a:pt x="1517452" y="261540"/>
                  <a:pt x="1517452" y="367903"/>
                </a:cubicBezTo>
                <a:lnTo>
                  <a:pt x="1517452" y="523875"/>
                </a:lnTo>
                <a:cubicBezTo>
                  <a:pt x="1517452" y="630634"/>
                  <a:pt x="1483618" y="718641"/>
                  <a:pt x="1415951" y="787896"/>
                </a:cubicBezTo>
                <a:cubicBezTo>
                  <a:pt x="1348284" y="857150"/>
                  <a:pt x="1259880" y="891778"/>
                  <a:pt x="1150739" y="891778"/>
                </a:cubicBezTo>
                <a:cubicBezTo>
                  <a:pt x="1040805" y="891778"/>
                  <a:pt x="951706" y="857150"/>
                  <a:pt x="883444" y="787896"/>
                </a:cubicBezTo>
                <a:cubicBezTo>
                  <a:pt x="815181" y="718641"/>
                  <a:pt x="781050" y="630634"/>
                  <a:pt x="781050" y="523875"/>
                </a:cubicBezTo>
                <a:lnTo>
                  <a:pt x="781050" y="367903"/>
                </a:lnTo>
                <a:cubicBezTo>
                  <a:pt x="781050" y="261540"/>
                  <a:pt x="815082" y="173632"/>
                  <a:pt x="883146" y="104179"/>
                </a:cubicBezTo>
                <a:cubicBezTo>
                  <a:pt x="951210" y="34726"/>
                  <a:pt x="1040011" y="0"/>
                  <a:pt x="1149548" y="0"/>
                </a:cubicBezTo>
                <a:close/>
                <a:moveTo>
                  <a:pt x="341710" y="0"/>
                </a:moveTo>
                <a:cubicBezTo>
                  <a:pt x="451644" y="0"/>
                  <a:pt x="536674" y="25598"/>
                  <a:pt x="596801" y="76795"/>
                </a:cubicBezTo>
                <a:cubicBezTo>
                  <a:pt x="656928" y="127992"/>
                  <a:pt x="686197" y="202406"/>
                  <a:pt x="684609" y="300037"/>
                </a:cubicBezTo>
                <a:lnTo>
                  <a:pt x="682823" y="303609"/>
                </a:lnTo>
                <a:lnTo>
                  <a:pt x="486966" y="303609"/>
                </a:lnTo>
                <a:cubicBezTo>
                  <a:pt x="486966" y="250428"/>
                  <a:pt x="475655" y="212328"/>
                  <a:pt x="453033" y="189309"/>
                </a:cubicBezTo>
                <a:cubicBezTo>
                  <a:pt x="430411" y="166290"/>
                  <a:pt x="393303" y="154781"/>
                  <a:pt x="341710" y="154781"/>
                </a:cubicBezTo>
                <a:cubicBezTo>
                  <a:pt x="296466" y="154781"/>
                  <a:pt x="261739" y="172938"/>
                  <a:pt x="237530" y="209252"/>
                </a:cubicBezTo>
                <a:cubicBezTo>
                  <a:pt x="213321" y="245566"/>
                  <a:pt x="201216" y="293886"/>
                  <a:pt x="201216" y="354211"/>
                </a:cubicBezTo>
                <a:lnTo>
                  <a:pt x="201216" y="536376"/>
                </a:lnTo>
                <a:cubicBezTo>
                  <a:pt x="201216" y="597098"/>
                  <a:pt x="214511" y="645715"/>
                  <a:pt x="241102" y="682228"/>
                </a:cubicBezTo>
                <a:cubicBezTo>
                  <a:pt x="267692" y="718740"/>
                  <a:pt x="305792" y="736997"/>
                  <a:pt x="355402" y="736997"/>
                </a:cubicBezTo>
                <a:cubicBezTo>
                  <a:pt x="401439" y="736997"/>
                  <a:pt x="434677" y="725487"/>
                  <a:pt x="455117" y="702468"/>
                </a:cubicBezTo>
                <a:cubicBezTo>
                  <a:pt x="475556" y="679450"/>
                  <a:pt x="485775" y="640953"/>
                  <a:pt x="485775" y="586978"/>
                </a:cubicBezTo>
                <a:lnTo>
                  <a:pt x="681633" y="586978"/>
                </a:lnTo>
                <a:lnTo>
                  <a:pt x="682823" y="590550"/>
                </a:lnTo>
                <a:cubicBezTo>
                  <a:pt x="684411" y="689371"/>
                  <a:pt x="656531" y="764282"/>
                  <a:pt x="599182" y="815280"/>
                </a:cubicBezTo>
                <a:cubicBezTo>
                  <a:pt x="541834" y="866279"/>
                  <a:pt x="460573" y="891778"/>
                  <a:pt x="355402" y="891778"/>
                </a:cubicBezTo>
                <a:cubicBezTo>
                  <a:pt x="248245" y="891778"/>
                  <a:pt x="162223" y="859036"/>
                  <a:pt x="97334" y="793551"/>
                </a:cubicBezTo>
                <a:cubicBezTo>
                  <a:pt x="32445" y="728067"/>
                  <a:pt x="0" y="642342"/>
                  <a:pt x="0" y="536376"/>
                </a:cubicBezTo>
                <a:lnTo>
                  <a:pt x="0" y="355401"/>
                </a:lnTo>
                <a:cubicBezTo>
                  <a:pt x="0" y="249832"/>
                  <a:pt x="31254" y="164207"/>
                  <a:pt x="93762" y="98524"/>
                </a:cubicBezTo>
                <a:cubicBezTo>
                  <a:pt x="156270" y="32841"/>
                  <a:pt x="238919" y="0"/>
                  <a:pt x="341710" y="0"/>
                </a:cubicBezTo>
                <a:close/>
              </a:path>
            </a:pathLst>
          </a:custGeom>
          <a:solidFill>
            <a:srgbClr val="13214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kumimoji="1" lang="zh-CN" altLang="en-US" sz="9600" b="0" dirty="0">
              <a:solidFill>
                <a:srgbClr val="132141"/>
              </a:solidFill>
              <a:latin typeface="Roboto Bk" pitchFamily="2" charset="0"/>
              <a:ea typeface="微软雅黑" panose="020B0503020204020204" pitchFamily="34" charset="-122"/>
            </a:endParaRPr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6482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6354" y="0"/>
            <a:ext cx="4875646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0" y="6611779"/>
            <a:ext cx="2624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©2025 Anlogic Infotech, all rights reserved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Roboto" pitchFamily="2" charset="0"/>
            </a:endParaRPr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4550"/>
            <a:ext cx="12196482" cy="6183449"/>
          </a:xfrm>
          <a:prstGeom prst="rect">
            <a:avLst/>
          </a:prstGeom>
        </p:spPr>
      </p:pic>
      <p:cxnSp>
        <p:nvCxnSpPr>
          <p:cNvPr id="4" name="直线连接符 3"/>
          <p:cNvCxnSpPr/>
          <p:nvPr userDrawn="1"/>
        </p:nvCxnSpPr>
        <p:spPr>
          <a:xfrm>
            <a:off x="840995" y="660492"/>
            <a:ext cx="11023627" cy="0"/>
          </a:xfrm>
          <a:prstGeom prst="line">
            <a:avLst/>
          </a:prstGeom>
          <a:ln>
            <a:solidFill>
              <a:srgbClr val="CD1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7404" cy="674551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0" y="6611779"/>
            <a:ext cx="2624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©2025 Anlogic Infotech, all rights reserved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Roboto" pitchFamily="2" charset="0"/>
            </a:endParaRP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41" y="0"/>
            <a:ext cx="12196482" cy="6858000"/>
          </a:xfrm>
          <a:prstGeom prst="rect">
            <a:avLst/>
          </a:prstGeom>
        </p:spPr>
      </p:pic>
      <p:sp>
        <p:nvSpPr>
          <p:cNvPr id="13" name="直角三角形 12"/>
          <p:cNvSpPr/>
          <p:nvPr userDrawn="1"/>
        </p:nvSpPr>
        <p:spPr>
          <a:xfrm flipH="1">
            <a:off x="8759008" y="0"/>
            <a:ext cx="3445692" cy="6858000"/>
          </a:xfrm>
          <a:prstGeom prst="rtTriangle">
            <a:avLst/>
          </a:prstGeom>
          <a:solidFill>
            <a:srgbClr val="1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9605" y="1213428"/>
            <a:ext cx="2455095" cy="5644572"/>
          </a:xfrm>
          <a:prstGeom prst="rect">
            <a:avLst/>
          </a:prstGeom>
        </p:spPr>
      </p:pic>
      <p:sp>
        <p:nvSpPr>
          <p:cNvPr id="16" name="直角三角形 15"/>
          <p:cNvSpPr/>
          <p:nvPr userDrawn="1"/>
        </p:nvSpPr>
        <p:spPr>
          <a:xfrm rot="10800000" flipH="1">
            <a:off x="-8218" y="0"/>
            <a:ext cx="1117925" cy="2225020"/>
          </a:xfrm>
          <a:prstGeom prst="rtTriangle">
            <a:avLst/>
          </a:prstGeom>
          <a:solidFill>
            <a:srgbClr val="1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087" y="376961"/>
            <a:ext cx="1734495" cy="347418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0" y="6611779"/>
            <a:ext cx="2624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©2025 Anlogic Infotech, all rights reserved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Roboto" pitchFamily="2" charset="0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3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5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4.e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708260" y="1706693"/>
            <a:ext cx="5315204" cy="1279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600" b="1" spc="3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FPGA</a:t>
            </a:r>
            <a:r>
              <a:rPr lang="zh-CN" altLang="en-US" sz="3600" b="1" spc="3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创新设计竞赛赛题解析</a:t>
            </a:r>
            <a:endParaRPr lang="zh-CN" altLang="en-US" sz="3600" b="1" spc="3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08259" y="2985761"/>
            <a:ext cx="3236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spc="3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安路赛道</a:t>
            </a:r>
            <a:r>
              <a:rPr lang="en-US" altLang="zh-CN" sz="2400" spc="3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——</a:t>
            </a:r>
            <a:r>
              <a:rPr lang="zh-CN" altLang="en-US" sz="2400" spc="3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选题二</a:t>
            </a:r>
            <a:endParaRPr lang="zh-CN" altLang="en-US" sz="2400" spc="3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08259" y="5362963"/>
            <a:ext cx="14959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spc="300" dirty="0">
                <a:solidFill>
                  <a:srgbClr val="13214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2026.09.05</a:t>
            </a:r>
            <a:endParaRPr lang="zh-CN" altLang="en-US" sz="1400" spc="300" dirty="0">
              <a:solidFill>
                <a:srgbClr val="13214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39126" y="2164637"/>
            <a:ext cx="7382585" cy="2528727"/>
            <a:chOff x="3539126" y="1504002"/>
            <a:chExt cx="7382585" cy="2528727"/>
          </a:xfrm>
        </p:grpSpPr>
        <p:grpSp>
          <p:nvGrpSpPr>
            <p:cNvPr id="7" name="组合 6"/>
            <p:cNvGrpSpPr/>
            <p:nvPr/>
          </p:nvGrpSpPr>
          <p:grpSpPr>
            <a:xfrm>
              <a:off x="3539126" y="1504002"/>
              <a:ext cx="3862516" cy="921153"/>
              <a:chOff x="3539126" y="1504002"/>
              <a:chExt cx="3862516" cy="921153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3539126" y="2025045"/>
                <a:ext cx="386251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spc="300" dirty="0">
                    <a:solidFill>
                      <a:srgbClr val="13214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选题方向</a:t>
                </a:r>
                <a:endParaRPr lang="zh-CN" altLang="en-US" sz="2000" spc="300" dirty="0">
                  <a:solidFill>
                    <a:srgbClr val="13214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539126" y="1504002"/>
                <a:ext cx="1479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Part</a:t>
                </a:r>
                <a:r>
                  <a:rPr lang="zh-CN" altLang="en-US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01</a:t>
                </a:r>
                <a:endParaRPr lang="zh-CN" altLang="en-US" sz="2800" dirty="0">
                  <a:solidFill>
                    <a:srgbClr val="CD122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539126" y="3111576"/>
              <a:ext cx="3862516" cy="921153"/>
              <a:chOff x="3539126" y="3111576"/>
              <a:chExt cx="3862516" cy="921153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3539126" y="3632619"/>
                <a:ext cx="386251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spc="300" dirty="0">
                    <a:solidFill>
                      <a:srgbClr val="13214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竞赛技术平台</a:t>
                </a:r>
                <a:endParaRPr lang="zh-CN" altLang="en-US" sz="2000" spc="300" dirty="0">
                  <a:solidFill>
                    <a:srgbClr val="13214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539126" y="3111576"/>
                <a:ext cx="1479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Part</a:t>
                </a:r>
                <a:r>
                  <a:rPr lang="zh-CN" altLang="en-US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02</a:t>
                </a:r>
                <a:endParaRPr lang="zh-CN" altLang="en-US" sz="2800" dirty="0">
                  <a:solidFill>
                    <a:srgbClr val="CD122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7059195" y="1504002"/>
              <a:ext cx="3862516" cy="921153"/>
              <a:chOff x="3539126" y="4719150"/>
              <a:chExt cx="3862516" cy="921153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3539126" y="5240193"/>
                <a:ext cx="386251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spc="300" dirty="0">
                    <a:solidFill>
                      <a:srgbClr val="13214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赛题解析</a:t>
                </a:r>
                <a:endParaRPr lang="zh-CN" altLang="en-US" sz="2000" spc="300" dirty="0">
                  <a:solidFill>
                    <a:srgbClr val="13214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3539126" y="4719150"/>
                <a:ext cx="1479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Part</a:t>
                </a:r>
                <a:r>
                  <a:rPr lang="zh-CN" altLang="en-US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03</a:t>
                </a:r>
                <a:endParaRPr lang="zh-CN" altLang="en-US" sz="2800" dirty="0">
                  <a:solidFill>
                    <a:srgbClr val="CD122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7059195" y="3111576"/>
              <a:ext cx="3862516" cy="921153"/>
              <a:chOff x="7615007" y="1504002"/>
              <a:chExt cx="3862516" cy="921153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7615007" y="2025045"/>
                <a:ext cx="386251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spc="300" dirty="0">
                    <a:solidFill>
                      <a:srgbClr val="13214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技术支持与技术资源</a:t>
                </a:r>
                <a:endParaRPr lang="zh-CN" altLang="en-US" sz="2000" spc="300" dirty="0">
                  <a:solidFill>
                    <a:srgbClr val="13214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7615007" y="1504002"/>
                <a:ext cx="1479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Part</a:t>
                </a:r>
                <a:r>
                  <a:rPr lang="zh-CN" altLang="en-US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CD122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04</a:t>
                </a:r>
                <a:endParaRPr lang="zh-CN" altLang="en-US" sz="2800" dirty="0">
                  <a:solidFill>
                    <a:srgbClr val="CD122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0480" y="2577313"/>
            <a:ext cx="23391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spc="6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选题方向</a:t>
            </a:r>
            <a:endParaRPr lang="zh-CN" altLang="en-US" sz="3600" spc="6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772" y="1731281"/>
            <a:ext cx="18523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lang="zh-CN" altLang="en-US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01</a:t>
            </a:r>
            <a:endParaRPr lang="zh-CN" altLang="en-US" sz="3600" dirty="0">
              <a:solidFill>
                <a:srgbClr val="CD122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0" y="2033703"/>
            <a:ext cx="8454315" cy="4049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/>
              <a:t>本赛题</a:t>
            </a:r>
            <a:r>
              <a:rPr lang="zh-CN" altLang="zh-CN" sz="1600" dirty="0"/>
              <a:t>基于</a:t>
            </a:r>
            <a:r>
              <a:rPr lang="en-US" altLang="zh-CN" sz="1600" dirty="0"/>
              <a:t>FPGA</a:t>
            </a:r>
            <a:r>
              <a:rPr lang="zh-CN" altLang="zh-CN" sz="1600" dirty="0"/>
              <a:t>的视频图像处理系统</a:t>
            </a:r>
            <a:r>
              <a:rPr lang="zh-CN" altLang="en-US" sz="1600" dirty="0"/>
              <a:t>，具备</a:t>
            </a:r>
            <a:r>
              <a:rPr lang="zh-CN" altLang="zh-CN" sz="1600" dirty="0"/>
              <a:t>低延迟、高实时性的</a:t>
            </a:r>
            <a:r>
              <a:rPr lang="zh-CN" altLang="en-US" sz="1600" dirty="0"/>
              <a:t>特点，适用于</a:t>
            </a:r>
            <a:r>
              <a:rPr lang="zh-CN" altLang="zh-CN" sz="1600" dirty="0"/>
              <a:t>智能视觉、工业检测、无人系统及嵌入式应用等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多种应用场景。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/>
              <a:t>比赛</a:t>
            </a:r>
            <a:r>
              <a:rPr lang="zh-CN" altLang="zh-CN" sz="1600" dirty="0"/>
              <a:t>要求使用定制开发板，主芯片为安路科技</a:t>
            </a:r>
            <a:r>
              <a:rPr lang="en-US" altLang="zh-CN" sz="1600" dirty="0" err="1"/>
              <a:t>PH1P35MDG324</a:t>
            </a:r>
            <a:r>
              <a:rPr lang="zh-CN" altLang="en-US" sz="1600" dirty="0"/>
              <a:t>，内置</a:t>
            </a:r>
            <a:r>
              <a:rPr lang="en-US" altLang="zh-CN" sz="1600" dirty="0"/>
              <a:t>42,432</a:t>
            </a:r>
            <a:r>
              <a:rPr lang="zh-CN" altLang="zh-CN" sz="1600" dirty="0"/>
              <a:t>个</a:t>
            </a:r>
            <a:r>
              <a:rPr lang="en-US" altLang="zh-CN" sz="1600" dirty="0"/>
              <a:t>DFF</a:t>
            </a:r>
            <a:r>
              <a:rPr lang="zh-CN" altLang="zh-CN" sz="1600" dirty="0"/>
              <a:t>和</a:t>
            </a:r>
            <a:r>
              <a:rPr lang="en-US" altLang="zh-CN" sz="1600" dirty="0"/>
              <a:t>38,189</a:t>
            </a:r>
            <a:r>
              <a:rPr lang="zh-CN" altLang="zh-CN" sz="1600" dirty="0"/>
              <a:t>个</a:t>
            </a:r>
            <a:r>
              <a:rPr lang="en-US" altLang="zh-CN" sz="1600" dirty="0"/>
              <a:t>LUT</a:t>
            </a:r>
            <a:r>
              <a:rPr lang="zh-CN" altLang="zh-CN" sz="1600" dirty="0"/>
              <a:t>，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具备强大的逻辑处理能力</a:t>
            </a:r>
            <a:r>
              <a:rPr lang="zh-CN" altLang="zh-CN" sz="1600" dirty="0"/>
              <a:t>。通过该开发板，参赛者将设计完整的高清视频图像采集、处理与显示架构，涵盖MIPI视频流输入解码、视频数据缓存、图像信号处理及 HDMI高清显示等环节，实现低延迟、实时、稳定的视频流采集、处理与输出。系统支持高清视频图像处理与显示场景，可进行边缘提取、画面卡通化、目标检测、ISP 图像增强等算法优化，结合摄像头、矩阵键盘、语音、AD/DA 以及机电联动控制等外设模块，完成具有实际意义的创新应用设计。</a:t>
            </a:r>
            <a:endParaRPr lang="zh-CN" altLang="zh-CN" sz="1600" dirty="0"/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赛题简介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9297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选题二：基于安路</a:t>
            </a:r>
            <a:r>
              <a:rPr lang="en-US" altLang="zh-CN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FPGA</a:t>
            </a:r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的实时数字图像处理系统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0" y="2173400"/>
            <a:ext cx="9799021" cy="4296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/>
              <a:t>实现视频采集与显示功能：使用</a:t>
            </a:r>
            <a:r>
              <a:rPr lang="en-US" altLang="zh-CN" sz="1600" dirty="0" err="1"/>
              <a:t>MIPI</a:t>
            </a:r>
            <a:r>
              <a:rPr lang="zh-CN" altLang="zh-CN" sz="1600" dirty="0"/>
              <a:t>摄像头采集视频数据，并通过</a:t>
            </a:r>
            <a:r>
              <a:rPr lang="en-US" altLang="zh-CN" sz="1600" dirty="0"/>
              <a:t>HDMI</a:t>
            </a:r>
            <a:r>
              <a:rPr lang="zh-CN" altLang="zh-CN" sz="1600" dirty="0"/>
              <a:t>接口实现视频实时输出显示</a:t>
            </a:r>
            <a:r>
              <a:rPr lang="zh-CN" altLang="en-US" sz="1600" dirty="0"/>
              <a:t>；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/>
              <a:t>实现基础图像处理功能：在</a:t>
            </a:r>
            <a:r>
              <a:rPr lang="en-US" altLang="zh-CN" sz="1600" dirty="0"/>
              <a:t>FPGA</a:t>
            </a:r>
            <a:r>
              <a:rPr lang="zh-CN" altLang="zh-CN" sz="1600" dirty="0"/>
              <a:t>端完成至少一种图像处理算法（如边缘检测、灰度变换或二值化等），并输出处理后视频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/>
              <a:t>实现图像处理结果显示：处理后的视频需稳定输出至</a:t>
            </a:r>
            <a:r>
              <a:rPr lang="en-US" altLang="zh-CN" sz="1600" dirty="0"/>
              <a:t>HDMI</a:t>
            </a:r>
            <a:r>
              <a:rPr lang="zh-CN" altLang="zh-CN" sz="1600" dirty="0"/>
              <a:t>显示设备，画面连续，无明显异常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/>
              <a:t>实现信息叠加功能：在输出视频画面中叠加简单图形或文字信息（</a:t>
            </a:r>
            <a:r>
              <a:rPr lang="en-US" altLang="zh-CN" sz="1600" dirty="0" err="1"/>
              <a:t>OSD</a:t>
            </a:r>
            <a:r>
              <a:rPr lang="zh-CN" altLang="zh-CN" sz="1600" dirty="0"/>
              <a:t>），并包含</a:t>
            </a:r>
            <a:r>
              <a:rPr lang="en-US" altLang="zh-CN" sz="1600" dirty="0"/>
              <a:t>“</a:t>
            </a:r>
            <a:r>
              <a:rPr lang="zh-CN" altLang="zh-CN" sz="1600" dirty="0"/>
              <a:t>安路</a:t>
            </a:r>
            <a:r>
              <a:rPr lang="en-US" altLang="zh-CN" sz="1600" dirty="0"/>
              <a:t>”</a:t>
            </a:r>
            <a:r>
              <a:rPr lang="zh-CN" altLang="zh-CN" sz="1600" dirty="0"/>
              <a:t>标识</a:t>
            </a:r>
            <a:r>
              <a:rPr lang="en-US" altLang="zh-CN" sz="1600" dirty="0"/>
              <a:t>Logo</a:t>
            </a:r>
            <a:r>
              <a:rPr lang="zh-CN" altLang="zh-CN" sz="1600" dirty="0"/>
              <a:t>。</a:t>
            </a:r>
            <a:br>
              <a:rPr lang="en-US" altLang="zh-CN" dirty="0"/>
            </a:b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注：</a:t>
            </a:r>
            <a:r>
              <a:rPr lang="zh-CN" altLang="zh-CN" sz="1600" dirty="0"/>
              <a:t>基础要求重点考察系统完整性与稳定性，算法复杂度不作强制要求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基础要求在最终设计上必须实现至少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条。</a:t>
            </a:r>
            <a:endParaRPr kumimoji="1" lang="en-US" altLang="zh-CN" sz="16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使用开发板必须是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HX1P35A</a:t>
            </a:r>
            <a:r>
              <a:rPr kumimoji="1"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开发板。</a:t>
            </a:r>
            <a:endParaRPr kumimoji="1" lang="zh-CN" altLang="en-US" sz="16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基础要求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9841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选题二：基于安路</a:t>
            </a:r>
            <a:r>
              <a:rPr lang="en-US" altLang="zh-CN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FPGA</a:t>
            </a:r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的实时数字图像处理系统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0367" y="1625103"/>
            <a:ext cx="9799021" cy="4496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>
                <a:latin typeface="+mn-ea"/>
              </a:rPr>
              <a:t>实现视频图像风格化处理或视觉增强功能，如边缘提取与区域填充（卡通化处理）等；</a:t>
            </a:r>
            <a:endParaRPr lang="en-US" altLang="zh-CN" sz="16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>
                <a:latin typeface="+mn-ea"/>
              </a:rPr>
              <a:t>实现基于视频内容的目标检测与识别功能，对简单目标（如几何形状或特定物体）进行识别，并在输出画面中叠加检测结果与文字说明；</a:t>
            </a:r>
            <a:endParaRPr lang="en-US" altLang="zh-CN" sz="16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>
                <a:latin typeface="+mn-ea"/>
              </a:rPr>
              <a:t>面向实际应用场景进行系统设计，如结合移动平台（智能小车等），根据视频识别结果实现外部控制；</a:t>
            </a:r>
            <a:endParaRPr lang="en-US" altLang="zh-CN" sz="16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>
                <a:latin typeface="+mn-ea"/>
              </a:rPr>
              <a:t>优化系统性能，在保证功能实现的前提下，提高处理实时性，降低资源占用；</a:t>
            </a:r>
            <a:endParaRPr lang="en-US" altLang="zh-CN" sz="16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zh-CN" sz="1600" dirty="0">
                <a:latin typeface="+mn-ea"/>
              </a:rPr>
              <a:t>自主创意：开展其他基于视频图像处理的创新设计，在系统稳定运行基础上实现功能扩展。</a:t>
            </a:r>
            <a:endParaRPr kumimoji="1" lang="en-US" altLang="zh-CN" sz="1600" dirty="0">
              <a:solidFill>
                <a:srgbClr val="132141"/>
              </a:solidFill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赛题网址：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http://www.fpgachina.cn/download?value=11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扩展要求在最终设计中只要求至少实现</a:t>
            </a:r>
            <a:r>
              <a:rPr kumimoji="1"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</a:t>
            </a:r>
            <a:endParaRPr kumimoji="1" lang="en-US" altLang="zh-CN" sz="16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扩展要求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9217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选题二：基于安路</a:t>
            </a:r>
            <a:r>
              <a:rPr lang="en-US" altLang="zh-CN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FPGA</a:t>
            </a:r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的实时数字图像处理系统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0480" y="257731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spc="6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竞赛硬件资源</a:t>
            </a:r>
            <a:endParaRPr lang="zh-CN" altLang="en-US" sz="3600" spc="6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772" y="1731281"/>
            <a:ext cx="18694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lang="zh-CN" altLang="en-US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02</a:t>
            </a:r>
            <a:endParaRPr lang="zh-CN" altLang="en-US" sz="3600" dirty="0">
              <a:solidFill>
                <a:srgbClr val="CD122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HX1P35A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开发板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竞赛技术平台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80720" y="1733244"/>
          <a:ext cx="6114527" cy="416540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875947"/>
                <a:gridCol w="4238580"/>
              </a:tblGrid>
              <a:tr h="37956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硬件参数配置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FPGA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安路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PH1P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系列</a:t>
                      </a:r>
                      <a:r>
                        <a:rPr lang="en-US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PH1P35MDG324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LUTs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38184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DFF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42432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dis-</a:t>
                      </a:r>
                      <a:r>
                        <a:rPr 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RAM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507Kbit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ERAM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2160Kbit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MIPI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其他资源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DSP:40,PLL:6,TVS:6:MCU:1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调试下载方式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板载</a:t>
                      </a: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AL-LINK-FT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下载器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,Type-C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接口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3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供电方式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①板载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USB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口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5V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供电、②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12DC-5V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5V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3.3V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2.5V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1.2V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电路系统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353" b="1353"/>
          <a:stretch>
            <a:fillRect/>
          </a:stretch>
        </p:blipFill>
        <p:spPr>
          <a:xfrm>
            <a:off x="7243779" y="2278381"/>
            <a:ext cx="4592319" cy="3018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HX1P35A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开发板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竞赛技术平台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80720" y="1804519"/>
          <a:ext cx="6114526" cy="434534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75948"/>
                <a:gridCol w="4238578"/>
              </a:tblGrid>
              <a:tr h="3471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硬件参数配置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525" marR="9525" marT="9525" marB="0" anchor="ctr"/>
                </a:tc>
              </a:tr>
              <a:tr h="30532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人机互换信号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组输入按键 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323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组拨码开关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323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组控制蜂鸣器开关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323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组切换数码管和双色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LED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开关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473" marR="6473" marT="64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显示信号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</a:t>
                      </a: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LED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发光管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组电源显示</a:t>
                      </a: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LED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组配置信号显示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LED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组数码管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组双色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个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LED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通信接口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USB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转</a:t>
                      </a:r>
                      <a:r>
                        <a:rPr 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UART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千兆以太网口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17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蜂鸣器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353" b="1353"/>
          <a:stretch>
            <a:fillRect/>
          </a:stretch>
        </p:blipFill>
        <p:spPr>
          <a:xfrm>
            <a:off x="7243779" y="2278381"/>
            <a:ext cx="4592319" cy="3018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80720" y="1707116"/>
          <a:ext cx="6114526" cy="484284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43303"/>
                <a:gridCol w="4371223"/>
              </a:tblGrid>
              <a:tr h="40384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硬件参数配置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525" marR="9525" marT="9525" marB="0" anchor="ctr"/>
                </a:tc>
              </a:tr>
              <a:tr h="47790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存储器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掉电配置</a:t>
                      </a:r>
                      <a:r>
                        <a:rPr lang="en-US" sz="14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Qspi</a:t>
                      </a:r>
                      <a:r>
                        <a:rPr lang="en-US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Flash </a:t>
                      </a:r>
                      <a:r>
                        <a:rPr lang="en-US" sz="14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128MB</a:t>
                      </a:r>
                      <a:endParaRPr 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904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SPI Flash 64MB</a:t>
                      </a:r>
                      <a:endParaRPr 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904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TF</a:t>
                      </a:r>
                      <a:r>
                        <a:rPr lang="zh-CN" altLang="en-US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卡槽，可接插</a:t>
                      </a:r>
                      <a:r>
                        <a:rPr lang="en-US" altLang="zh-CN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TF</a:t>
                      </a:r>
                      <a:r>
                        <a:rPr lang="zh-CN" altLang="en-US" sz="14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卡存储器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90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视频处理接口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输出：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HDMI 1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个，可作为视频信号输出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904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专用</a:t>
                      </a:r>
                      <a:r>
                        <a:rPr lang="en-US" altLang="zh-CN" sz="14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MIPI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输入：</a:t>
                      </a:r>
                      <a:r>
                        <a:rPr lang="en-US" altLang="zh-CN" sz="14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FPC40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芯接口一个</a:t>
                      </a:r>
                      <a:endParaRPr lang="zh-CN" altLang="en-US" sz="1400" b="1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22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用户外扩</a:t>
                      </a:r>
                      <a:r>
                        <a:rPr 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</a:t>
                      </a:r>
                      <a:endParaRPr 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40PinDC3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接口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多达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72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组扩展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IO)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供用户外扩</a:t>
                      </a:r>
                      <a:endParaRPr lang="en-US" altLang="zh-CN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可扩展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LCD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ADC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DAC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、摄像头模块、电机、        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HDMI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输入模块、交通灯、点阵、键盘、语音处理等。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时钟源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50M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有源时钟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配件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4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DC12V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/</a:t>
                      </a:r>
                      <a:r>
                        <a:rPr lang="en-US" altLang="zh-CN" sz="14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1A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电源适配器、</a:t>
                      </a:r>
                      <a:r>
                        <a:rPr lang="en-US" altLang="zh-CN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USB</a:t>
                      </a:r>
                      <a:r>
                        <a:rPr lang="zh-CN" altLang="en-US" sz="14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数据线、杜邦线若干个</a:t>
                      </a:r>
                      <a:endParaRPr lang="zh-CN" altLang="en-US" sz="14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HX1P35A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开发板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竞赛技术平台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1353" b="1353"/>
          <a:stretch>
            <a:fillRect/>
          </a:stretch>
        </p:blipFill>
        <p:spPr>
          <a:xfrm>
            <a:off x="7243779" y="2278381"/>
            <a:ext cx="4592319" cy="30182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80720" y="1707116"/>
          <a:ext cx="6114526" cy="4843323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43303"/>
                <a:gridCol w="4371223"/>
              </a:tblGrid>
              <a:tr h="40384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硬件参数配置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525" marR="9525" marT="9525" marB="0" anchor="ctr"/>
                </a:tc>
              </a:tr>
              <a:tr h="483881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摄像头：详细请参考数据手册</a:t>
                      </a:r>
                      <a:endParaRPr lang="zh-CN" altLang="en-US" sz="18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Smartsens:SC500CS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881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应用：智能家用、移动、视频会议等</a:t>
                      </a:r>
                      <a:endParaRPr 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881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像素：</a:t>
                      </a:r>
                      <a:r>
                        <a:rPr lang="en-US" altLang="zh-CN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500</a:t>
                      </a:r>
                      <a:r>
                        <a:rPr lang="zh-CN" altLang="en-US" sz="1600" b="1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万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881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像素阵列：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2600H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x 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1952V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038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最大图像传输速率：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2592H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x 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1944V@30fps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10bit</a:t>
                      </a:r>
                      <a:endParaRPr lang="en-US" altLang="zh-CN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818">
                <a:tc vMerge="1"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输出接口：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10/8-bit 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2Lane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MIPI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818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连接口：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24P-FPC24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,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连接口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24P-FPC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板和摄像头连接线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提供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40P</a:t>
                      </a: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转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24P</a:t>
                      </a:r>
                      <a:r>
                        <a:rPr lang="en-US" altLang="zh-CN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altLang="zh-CN" sz="1600" b="1" i="0" u="none" strike="noStrike" dirty="0" err="1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FPC</a:t>
                      </a:r>
                      <a:r>
                        <a:rPr lang="zh-CN" altLang="en-US" sz="1600" b="1" i="0" u="none" strike="noStrike" dirty="0">
                          <a:solidFill>
                            <a:srgbClr val="3D4963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软线</a:t>
                      </a:r>
                      <a:endParaRPr lang="zh-CN" altLang="en-US" sz="1600" b="1" i="0" u="none" strike="noStrike" dirty="0">
                        <a:solidFill>
                          <a:srgbClr val="3D4963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SC500CS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摄像头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参赛者自购）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竞赛扩展外设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4" name="图片 3" descr="摄像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953" y="1990895"/>
            <a:ext cx="3637280" cy="1264920"/>
          </a:xfrm>
          <a:prstGeom prst="rect">
            <a:avLst/>
          </a:prstGeom>
        </p:spPr>
      </p:pic>
      <p:pic>
        <p:nvPicPr>
          <p:cNvPr id="5" name="图片 4" descr="摄像头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953" y="4249079"/>
            <a:ext cx="3549015" cy="1321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1" y="2173400"/>
            <a:ext cx="3918174" cy="303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根据上述硬件资源，提供如下技术支持：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）开发板的使用手册；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）开发板的原理图；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）开发板的基础实验，包括接口例程；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4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）提供相关调试软件；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）提供参赛样例，并配有样例解析。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HX1P35A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开发板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技术支持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4366260" y="1229995"/>
          <a:ext cx="7499350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445"/>
                <a:gridCol w="5843905"/>
              </a:tblGrid>
              <a:tr h="1302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solidFill>
                            <a:srgbClr val="3D4963"/>
                          </a:solidFill>
                        </a:rPr>
                        <a:t>例程路径</a:t>
                      </a:r>
                      <a:endParaRPr lang="zh-CN" altLang="en-US" sz="2400" dirty="0">
                        <a:solidFill>
                          <a:srgbClr val="3D4963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rgbClr val="3D4963"/>
                          </a:solidFill>
                          <a:sym typeface="+mn-ea"/>
                        </a:rPr>
                        <a:t>lab_ex_2026_nosoft</a:t>
                      </a:r>
                      <a:endParaRPr lang="en-US" altLang="zh-CN" sz="2400">
                        <a:solidFill>
                          <a:srgbClr val="3D4963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zh-CN" altLang="en-US" sz="2400" dirty="0">
                        <a:solidFill>
                          <a:srgbClr val="3D496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solidFill>
                            <a:srgbClr val="3D4963"/>
                          </a:solidFill>
                        </a:rPr>
                        <a:t>例程描述</a:t>
                      </a:r>
                      <a:endParaRPr lang="zh-CN" altLang="en-US" sz="2400" dirty="0">
                        <a:solidFill>
                          <a:srgbClr val="3D4963"/>
                        </a:solidFill>
                      </a:endParaRPr>
                    </a:p>
                  </a:txBody>
                  <a:tcPr anchor="ctr"/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lab_ex_1</a:t>
                      </a:r>
                      <a:endParaRPr lang="en-US" altLang="zh-CN" sz="1800" b="1" dirty="0">
                        <a:ln>
                          <a:noFill/>
                        </a:ln>
                        <a:solidFill>
                          <a:srgbClr val="3D4963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使用 </a:t>
                      </a:r>
                      <a:r>
                        <a:rPr lang="en-US" altLang="zh-CN" sz="1800" b="1" dirty="0" err="1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MIPI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摄像头实现图像采集，存储至片内集成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DDR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中，并通过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HDMI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接口驱动显示屏，实现原始图像实时显示。</a:t>
                      </a:r>
                      <a:endParaRPr lang="zh-CN" altLang="en-US" sz="1800" b="1" dirty="0">
                        <a:ln>
                          <a:noFill/>
                        </a:ln>
                        <a:solidFill>
                          <a:srgbClr val="3D4963"/>
                        </a:solidFill>
                        <a:effectLst/>
                      </a:endParaRPr>
                    </a:p>
                  </a:txBody>
                  <a:tcPr anchor="ctr"/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lab_ex_2</a:t>
                      </a:r>
                      <a:endParaRPr lang="en-US" altLang="zh-CN" sz="1800" b="1" dirty="0">
                        <a:ln>
                          <a:noFill/>
                        </a:ln>
                        <a:solidFill>
                          <a:srgbClr val="3D4963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使用 </a:t>
                      </a:r>
                      <a:r>
                        <a:rPr lang="en-US" altLang="zh-CN" sz="1800" b="1" dirty="0" err="1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MIPI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摄像头实现图像采集，对采集到的图像进行边缘检测算法处理，存储至片内集成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DDR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中，并通过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HDMI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接口驱动显示屏，实现边缘检测图像实时显示。</a:t>
                      </a:r>
                      <a:endParaRPr lang="zh-CN" altLang="en-US" sz="1800" b="1" dirty="0">
                        <a:ln>
                          <a:noFill/>
                        </a:ln>
                        <a:solidFill>
                          <a:srgbClr val="3D4963"/>
                        </a:solidFill>
                        <a:effectLst/>
                      </a:endParaRPr>
                    </a:p>
                  </a:txBody>
                  <a:tcPr anchor="ctr"/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lab_ex_3</a:t>
                      </a:r>
                      <a:endParaRPr lang="en-US" altLang="zh-CN" sz="1800" b="1" dirty="0">
                        <a:ln>
                          <a:noFill/>
                        </a:ln>
                        <a:solidFill>
                          <a:srgbClr val="3D4963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使用 </a:t>
                      </a:r>
                      <a:r>
                        <a:rPr lang="en-US" altLang="zh-CN" sz="1800" b="1" dirty="0" err="1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MIPI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摄像头实现图像采集，存储至片内集成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DDR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中，并通过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HDMI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接口驱动显示屏，在实时显示的图像上叠加了安路 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Logo </a:t>
                      </a:r>
                      <a:r>
                        <a:rPr lang="zh-CN" altLang="en-US" sz="1800" b="1" dirty="0">
                          <a:ln>
                            <a:noFill/>
                          </a:ln>
                          <a:solidFill>
                            <a:srgbClr val="3D4963"/>
                          </a:solidFill>
                          <a:effectLst/>
                        </a:rPr>
                        <a:t>与运行计数器，实现带叠加信息的图像实时显示。</a:t>
                      </a:r>
                      <a:endParaRPr lang="zh-CN" altLang="en-US" sz="1800" b="1" dirty="0">
                        <a:ln>
                          <a:noFill/>
                        </a:ln>
                        <a:solidFill>
                          <a:srgbClr val="3D4963"/>
                        </a:solidFill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0480" y="2577313"/>
            <a:ext cx="23391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spc="6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3600" spc="6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772" y="1731281"/>
            <a:ext cx="18694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lang="zh-CN" altLang="en-US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03</a:t>
            </a:r>
            <a:endParaRPr lang="zh-CN" altLang="en-US" sz="3600" dirty="0">
              <a:solidFill>
                <a:srgbClr val="CD122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0" y="2173400"/>
            <a:ext cx="9799021" cy="4049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本项目选用安路 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FPGA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开发板作为核心平台，具备 </a:t>
            </a:r>
            <a:r>
              <a:rPr kumimoji="1" lang="en-US" altLang="zh-CN" sz="1600" dirty="0" err="1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MIPI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视频输入、</a:t>
            </a:r>
            <a:r>
              <a:rPr kumimoji="1" lang="en-US" altLang="zh-CN" sz="1600" dirty="0" err="1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DDR2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图像缓存、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HDMI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高清输出以及多种外设扩展能力，适合构建低延迟、实时性强的视频图像处理系统。项目围绕摄像头图像采集、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ISP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基础处理、帧缓存管理和 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HDMI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显示输出展开，设计并实现从 </a:t>
            </a:r>
            <a:r>
              <a:rPr kumimoji="1" lang="en-US" altLang="zh-CN" sz="1600" dirty="0" err="1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MIPI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视频流接收、</a:t>
            </a:r>
            <a:r>
              <a:rPr kumimoji="1" lang="en-US" altLang="zh-CN" sz="1600" dirty="0" err="1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RAW10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数据解包、图像预处理到高清显示的完整硬件处理链路。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系统支持针对视频图像处理与传输场景进行开发，包括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ISP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图像信号处理、压缩与解压缩（有损或无损）、图像检测与处理等算法优化，适合不同基础的同学上手实践。无论是初学者还是具备一定经验的选手，都能在这里找到合适的切入点。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开发板配备了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组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2x20 DC3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接口和多达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72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组扩展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IO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，便于外接多种模块，如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LCD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显示屏、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ADC/DAC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转换器、摄像头、电机、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HDMI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输入模块、交通灯、点阵屏、键盘、语音处理模块等，充分满足拓展功能或自制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PCB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的需求，满足高水平同学完成更复杂的任务挑战的需求。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选题优势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196490" y="2250344"/>
            <a:ext cx="9799021" cy="1834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b="1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本赛题为同学们提供了丰富的例程资源，能够有效支撑大家完成赛题的基础要求，确保每位参赛同学在比赛结束时都能呈现出一个相对完整、功能丰富的作品。具体资料可通过相关链接自行下载。</a:t>
            </a:r>
            <a:endParaRPr kumimoji="1" lang="en-US" altLang="zh-CN" sz="1600" b="1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b="1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初学者易完赛，易获奖。</a:t>
            </a:r>
            <a:endParaRPr kumimoji="1" lang="en-US" altLang="zh-CN" sz="1600" b="1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b="1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同时可以部分实现的扩展要求，可以通过同学们的丰富想象，呈现令人惊艳的参赛作品。</a:t>
            </a:r>
            <a:endParaRPr kumimoji="1" lang="en-US" altLang="zh-CN" sz="1600" b="1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选题优势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198445" y="5271035"/>
            <a:ext cx="77951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/>
              <a:t>通过</a:t>
            </a:r>
            <a:r>
              <a:rPr lang="en-US" altLang="zh-CN" sz="1600" dirty="0"/>
              <a:t> </a:t>
            </a:r>
            <a:r>
              <a:rPr lang="zh-CN" altLang="zh-CN" sz="1600" dirty="0"/>
              <a:t>MIPI</a:t>
            </a:r>
            <a:r>
              <a:rPr lang="en-US" altLang="zh-CN" sz="1600" dirty="0"/>
              <a:t> </a:t>
            </a:r>
            <a:r>
              <a:rPr lang="zh-CN" altLang="zh-CN" sz="1600" dirty="0"/>
              <a:t>摄像头采集</a:t>
            </a:r>
            <a:r>
              <a:rPr lang="en-US" altLang="zh-CN" sz="1600" dirty="0"/>
              <a:t> </a:t>
            </a:r>
            <a:r>
              <a:rPr lang="zh-CN" altLang="zh-CN" sz="1600" dirty="0"/>
              <a:t>RAW10</a:t>
            </a:r>
            <a:r>
              <a:rPr lang="en-US" altLang="zh-CN" sz="1600" dirty="0"/>
              <a:t> </a:t>
            </a:r>
            <a:r>
              <a:rPr lang="zh-CN" altLang="zh-CN" sz="1600" dirty="0"/>
              <a:t>视频流至</a:t>
            </a:r>
            <a:r>
              <a:rPr lang="en-US" altLang="zh-CN" sz="1600" dirty="0"/>
              <a:t> </a:t>
            </a:r>
            <a:r>
              <a:rPr lang="zh-CN" altLang="zh-CN" sz="1600" dirty="0"/>
              <a:t>FPGA</a:t>
            </a:r>
            <a:r>
              <a:rPr lang="en-US" altLang="zh-CN" sz="1600" dirty="0"/>
              <a:t> </a:t>
            </a:r>
            <a:r>
              <a:rPr lang="zh-CN" altLang="zh-CN" sz="1600" dirty="0"/>
              <a:t>的</a:t>
            </a:r>
            <a:r>
              <a:rPr lang="en-US" altLang="zh-CN" sz="1600" dirty="0"/>
              <a:t> </a:t>
            </a:r>
            <a:r>
              <a:rPr lang="zh-CN" altLang="zh-CN" sz="1600" dirty="0"/>
              <a:t>MIPI DPHY RX</a:t>
            </a:r>
            <a:r>
              <a:rPr lang="en-US" altLang="zh-CN" sz="1600" dirty="0"/>
              <a:t> </a:t>
            </a:r>
            <a:r>
              <a:rPr lang="zh-CN" altLang="zh-CN" sz="1600" dirty="0"/>
              <a:t>模块，数据经</a:t>
            </a:r>
            <a:r>
              <a:rPr lang="en-US" altLang="zh-CN" sz="1600" dirty="0"/>
              <a:t> </a:t>
            </a:r>
            <a:r>
              <a:rPr lang="zh-CN" altLang="zh-CN" sz="1600" dirty="0"/>
              <a:t>CSI</a:t>
            </a:r>
            <a:r>
              <a:rPr lang="en-US" altLang="zh-CN" sz="1600" dirty="0"/>
              <a:t> </a:t>
            </a:r>
            <a:r>
              <a:rPr lang="zh-CN" altLang="zh-CN" sz="1600" dirty="0"/>
              <a:t>解包、ISP</a:t>
            </a:r>
            <a:r>
              <a:rPr lang="en-US" altLang="zh-CN" sz="1600" dirty="0"/>
              <a:t> </a:t>
            </a:r>
            <a:r>
              <a:rPr lang="zh-CN" altLang="zh-CN" sz="1600" dirty="0"/>
              <a:t>图像处理和</a:t>
            </a:r>
            <a:r>
              <a:rPr lang="en-US" altLang="zh-CN" sz="1600" dirty="0"/>
              <a:t> </a:t>
            </a:r>
            <a:r>
              <a:rPr lang="zh-CN" altLang="zh-CN" sz="1600" dirty="0"/>
              <a:t>DDR2</a:t>
            </a:r>
            <a:r>
              <a:rPr lang="en-US" altLang="zh-CN" sz="1600" dirty="0"/>
              <a:t> </a:t>
            </a:r>
            <a:r>
              <a:rPr lang="zh-CN" altLang="zh-CN" sz="1600" dirty="0"/>
              <a:t>帧缓存后传输至</a:t>
            </a:r>
            <a:r>
              <a:rPr lang="en-US" altLang="zh-CN" sz="1600" dirty="0"/>
              <a:t> </a:t>
            </a:r>
            <a:r>
              <a:rPr lang="zh-CN" altLang="zh-CN" sz="1600" dirty="0"/>
              <a:t>HDMI</a:t>
            </a:r>
            <a:r>
              <a:rPr lang="en-US" altLang="zh-CN" sz="1600" dirty="0"/>
              <a:t> </a:t>
            </a:r>
            <a:r>
              <a:rPr lang="zh-CN" altLang="zh-CN" sz="1600" dirty="0"/>
              <a:t>显示模块，由</a:t>
            </a:r>
            <a:r>
              <a:rPr lang="en-US" altLang="zh-CN" sz="1600" dirty="0"/>
              <a:t> </a:t>
            </a:r>
            <a:r>
              <a:rPr lang="zh-CN" altLang="zh-CN" sz="1600" dirty="0"/>
              <a:t>HDMI TX</a:t>
            </a:r>
            <a:r>
              <a:rPr lang="en-US" altLang="zh-CN" sz="1600" dirty="0"/>
              <a:t> </a:t>
            </a:r>
            <a:r>
              <a:rPr lang="zh-CN" altLang="zh-CN" sz="1600" dirty="0"/>
              <a:t>实时输出至显示器，实现视频数据的实时采集、缓存、处理与高清显示。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990600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基本要求１、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400" dirty="0"/>
              <a:t>通过 </a:t>
            </a:r>
            <a:r>
              <a:rPr lang="en-US" altLang="zh-CN" sz="2400" dirty="0" err="1"/>
              <a:t>MIPI</a:t>
            </a:r>
            <a:r>
              <a:rPr lang="en-US" altLang="zh-CN" sz="2400" dirty="0"/>
              <a:t> </a:t>
            </a:r>
            <a:r>
              <a:rPr lang="zh-CN" altLang="en-US" sz="2400" dirty="0"/>
              <a:t>摄像头实现视频采集与 </a:t>
            </a:r>
            <a:r>
              <a:rPr lang="en-US" altLang="zh-CN" sz="2400" dirty="0"/>
              <a:t>HDMI </a:t>
            </a:r>
            <a:r>
              <a:rPr lang="zh-CN" altLang="en-US" sz="2400" dirty="0"/>
              <a:t>稳定实时显示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45440" y="179832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638800" y="19012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132080" y="1649594"/>
            <a:ext cx="11828145" cy="3172281"/>
            <a:chOff x="132080" y="1649594"/>
            <a:chExt cx="11828145" cy="3172281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132080" y="1844040"/>
            <a:ext cx="5619681" cy="2655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Visio" r:id="rId1" imgW="16936720" imgH="8006080" progId="Visio.Drawing.15">
                    <p:embed/>
                  </p:oleObj>
                </mc:Choice>
                <mc:Fallback>
                  <p:oleObj name="Visio" r:id="rId1" imgW="16936720" imgH="8006080" progId="Visio.Drawing.15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080" y="1844040"/>
                          <a:ext cx="5619681" cy="26551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5842000" y="1649594"/>
            <a:ext cx="6118225" cy="284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Visio" r:id="rId3" imgW="16316960" imgH="7599680" progId="Visio.Drawing.15">
                    <p:embed/>
                  </p:oleObj>
                </mc:Choice>
                <mc:Fallback>
                  <p:oleObj name="Visio" r:id="rId3" imgW="16316960" imgH="7599680" progId="Visio.Drawing.15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2000" y="1649594"/>
                          <a:ext cx="6118225" cy="2849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1578950" y="4544876"/>
              <a:ext cx="3193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要求一实现思路示意图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19342" y="4509807"/>
              <a:ext cx="3120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要求一实现思路系统框图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802653" y="5351824"/>
            <a:ext cx="860402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/>
              <a:t>通过</a:t>
            </a:r>
            <a:r>
              <a:rPr lang="en-US" altLang="zh-CN" sz="1600" dirty="0"/>
              <a:t> </a:t>
            </a:r>
            <a:r>
              <a:rPr lang="zh-CN" altLang="zh-CN" sz="1600" dirty="0"/>
              <a:t>MIPI 2-lane</a:t>
            </a:r>
            <a:r>
              <a:rPr lang="en-US" altLang="zh-CN" sz="1600" dirty="0"/>
              <a:t> </a:t>
            </a:r>
            <a:r>
              <a:rPr lang="zh-CN" altLang="zh-CN" sz="1600" dirty="0"/>
              <a:t>摄像头采集</a:t>
            </a:r>
            <a:r>
              <a:rPr lang="en-US" altLang="zh-CN" sz="1600" dirty="0"/>
              <a:t> </a:t>
            </a:r>
            <a:r>
              <a:rPr lang="zh-CN" altLang="zh-CN" sz="1600" dirty="0"/>
              <a:t>RAW10</a:t>
            </a:r>
            <a:r>
              <a:rPr lang="en-US" altLang="zh-CN" sz="1600" dirty="0"/>
              <a:t> </a:t>
            </a:r>
            <a:r>
              <a:rPr lang="zh-CN" altLang="zh-CN" sz="1600" dirty="0"/>
              <a:t>视频流至</a:t>
            </a:r>
            <a:r>
              <a:rPr lang="en-US" altLang="zh-CN" sz="1600" dirty="0"/>
              <a:t> </a:t>
            </a:r>
            <a:r>
              <a:rPr lang="zh-CN" altLang="zh-CN" sz="1600" dirty="0"/>
              <a:t>FPGA</a:t>
            </a:r>
            <a:r>
              <a:rPr lang="en-US" altLang="zh-CN" sz="1600" dirty="0"/>
              <a:t> </a:t>
            </a:r>
            <a:r>
              <a:rPr lang="zh-CN" altLang="zh-CN" sz="1600" dirty="0"/>
              <a:t>的</a:t>
            </a:r>
            <a:r>
              <a:rPr lang="en-US" altLang="zh-CN" sz="1600" dirty="0"/>
              <a:t> </a:t>
            </a:r>
            <a:r>
              <a:rPr lang="zh-CN" altLang="zh-CN" sz="1600" dirty="0"/>
              <a:t>MIPI DPHY RX</a:t>
            </a:r>
            <a:r>
              <a:rPr lang="en-US" altLang="zh-CN" sz="1600" dirty="0"/>
              <a:t> </a:t>
            </a:r>
            <a:r>
              <a:rPr lang="zh-CN" altLang="zh-CN" sz="1600" dirty="0"/>
              <a:t>模块，数据经</a:t>
            </a:r>
            <a:r>
              <a:rPr lang="en-US" altLang="zh-CN" sz="1600" dirty="0"/>
              <a:t> </a:t>
            </a:r>
            <a:r>
              <a:rPr lang="zh-CN" altLang="zh-CN" sz="1600" dirty="0"/>
              <a:t>CSI解包、ISP</a:t>
            </a:r>
            <a:r>
              <a:rPr lang="en-US" altLang="zh-CN" sz="1600" dirty="0"/>
              <a:t> </a:t>
            </a:r>
            <a:r>
              <a:rPr lang="zh-CN" altLang="zh-CN" sz="1600" dirty="0"/>
              <a:t>基础处理和</a:t>
            </a:r>
            <a:r>
              <a:rPr lang="en-US" altLang="zh-CN" sz="1600" dirty="0"/>
              <a:t> </a:t>
            </a:r>
            <a:r>
              <a:rPr lang="zh-CN" altLang="zh-CN" sz="1600" dirty="0"/>
              <a:t>edge_detect_96</a:t>
            </a:r>
            <a:r>
              <a:rPr lang="en-US" altLang="zh-CN" sz="1600" dirty="0"/>
              <a:t> </a:t>
            </a:r>
            <a:r>
              <a:rPr lang="zh-CN" altLang="zh-CN" sz="1600" dirty="0"/>
              <a:t>边缘检测后写入</a:t>
            </a:r>
            <a:r>
              <a:rPr lang="en-US" altLang="zh-CN" sz="1600" dirty="0"/>
              <a:t> </a:t>
            </a:r>
            <a:r>
              <a:rPr lang="zh-CN" altLang="zh-CN" sz="1600" dirty="0"/>
              <a:t>DDR2</a:t>
            </a:r>
            <a:r>
              <a:rPr lang="en-US" altLang="zh-CN" sz="1600" dirty="0"/>
              <a:t> </a:t>
            </a:r>
            <a:r>
              <a:rPr lang="zh-CN" altLang="zh-CN" sz="1600" dirty="0"/>
              <a:t>帧缓存，再由</a:t>
            </a:r>
            <a:r>
              <a:rPr lang="en-US" altLang="zh-CN" sz="1600" dirty="0"/>
              <a:t> </a:t>
            </a:r>
            <a:r>
              <a:rPr lang="zh-CN" altLang="zh-CN" sz="1600" dirty="0"/>
              <a:t>HDMI</a:t>
            </a:r>
            <a:r>
              <a:rPr lang="en-US" altLang="zh-CN" sz="1600" dirty="0"/>
              <a:t> </a:t>
            </a:r>
            <a:r>
              <a:rPr lang="zh-CN" altLang="zh-CN" sz="1600" dirty="0"/>
              <a:t>显示模块实时输出至显示器，实现</a:t>
            </a:r>
            <a:r>
              <a:rPr lang="en-US" altLang="zh-CN" sz="1600" dirty="0"/>
              <a:t> </a:t>
            </a:r>
            <a:r>
              <a:rPr lang="zh-CN" altLang="zh-CN" sz="1600" dirty="0"/>
              <a:t>1024×600</a:t>
            </a:r>
            <a:r>
              <a:rPr lang="en-US" altLang="zh-CN" sz="1600" dirty="0"/>
              <a:t> </a:t>
            </a:r>
            <a:r>
              <a:rPr lang="zh-CN" altLang="zh-CN" sz="1600" dirty="0"/>
              <a:t>分辨率下的视频边缘提取与黑白二值化显示。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1084789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基本要求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2——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通过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FPGA 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实现一种图像处理方法（如边缘检测）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2144" y="17397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45193" y="24641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04206" y="1881257"/>
            <a:ext cx="11843905" cy="3155338"/>
            <a:chOff x="104206" y="1881257"/>
            <a:chExt cx="11843905" cy="3155338"/>
          </a:xfrm>
        </p:grpSpPr>
        <p:sp>
          <p:nvSpPr>
            <p:cNvPr id="16" name="文本框 15"/>
            <p:cNvSpPr txBox="1"/>
            <p:nvPr/>
          </p:nvSpPr>
          <p:spPr>
            <a:xfrm>
              <a:off x="2162246" y="4759595"/>
              <a:ext cx="2481831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要求二实现思路示意图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547925" y="4750685"/>
              <a:ext cx="2809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要求二实现思路系统框图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104206" y="1881257"/>
            <a:ext cx="6103938" cy="288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Visio" r:id="rId1" imgW="16936720" imgH="8006080" progId="Visio.Drawing.15">
                    <p:embed/>
                  </p:oleObj>
                </mc:Choice>
                <mc:Fallback>
                  <p:oleObj name="Visio" r:id="rId1" imgW="16936720" imgH="8006080" progId="Visio.Drawing.15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06" y="1881257"/>
                          <a:ext cx="6103938" cy="2887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5836236" y="2641870"/>
            <a:ext cx="6111875" cy="2117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Visio" r:id="rId3" imgW="16855440" imgH="5842000" progId="Visio.Drawing.15">
                    <p:embed/>
                  </p:oleObj>
                </mc:Choice>
                <mc:Fallback>
                  <p:oleObj name="Visio" r:id="rId3" imgW="16855440" imgH="5842000" progId="Visio.Drawing.15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6236" y="2641870"/>
                          <a:ext cx="6111875" cy="2117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3986" y="5409140"/>
            <a:ext cx="89804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1600" dirty="0"/>
              <a:t>通过</a:t>
            </a:r>
            <a:r>
              <a:rPr lang="en-US" altLang="zh-CN" sz="1600" dirty="0"/>
              <a:t> </a:t>
            </a:r>
            <a:r>
              <a:rPr lang="zh-CN" altLang="zh-CN" sz="1600" dirty="0"/>
              <a:t>MIPI</a:t>
            </a:r>
            <a:r>
              <a:rPr lang="en-US" altLang="zh-CN" sz="1600" dirty="0"/>
              <a:t> </a:t>
            </a:r>
            <a:r>
              <a:rPr lang="zh-CN" altLang="zh-CN" sz="1600" dirty="0"/>
              <a:t>摄像头采集1024×600视频流至</a:t>
            </a:r>
            <a:r>
              <a:rPr lang="en-US" altLang="zh-CN" sz="1600" dirty="0"/>
              <a:t> </a:t>
            </a:r>
            <a:r>
              <a:rPr lang="zh-CN" altLang="zh-CN" sz="1600" dirty="0"/>
              <a:t>FPGA，数据经</a:t>
            </a:r>
            <a:r>
              <a:rPr lang="en-US" altLang="zh-CN" sz="1600" dirty="0"/>
              <a:t> </a:t>
            </a:r>
            <a:r>
              <a:rPr lang="zh-CN" altLang="zh-CN" sz="1600" dirty="0"/>
              <a:t>ISP</a:t>
            </a:r>
            <a:r>
              <a:rPr lang="en-US" altLang="zh-CN" sz="1600" dirty="0"/>
              <a:t> </a:t>
            </a:r>
            <a:r>
              <a:rPr lang="zh-CN" altLang="zh-CN" sz="1600" dirty="0"/>
              <a:t>基础处理和</a:t>
            </a:r>
            <a:r>
              <a:rPr lang="en-US" altLang="zh-CN" sz="1600" dirty="0"/>
              <a:t> </a:t>
            </a:r>
            <a:r>
              <a:rPr lang="zh-CN" altLang="zh-CN" sz="1600" dirty="0"/>
              <a:t>DDR2</a:t>
            </a:r>
            <a:r>
              <a:rPr lang="en-US" altLang="zh-CN" sz="1600" dirty="0"/>
              <a:t> </a:t>
            </a:r>
            <a:r>
              <a:rPr lang="zh-CN" altLang="zh-CN" sz="1600" dirty="0"/>
              <a:t>帧缓存后传输至HDMI显示链路，由</a:t>
            </a:r>
            <a:r>
              <a:rPr lang="en-US" altLang="zh-CN" sz="1600" dirty="0"/>
              <a:t> </a:t>
            </a:r>
            <a:r>
              <a:rPr lang="zh-CN" altLang="zh-CN" sz="1600" dirty="0"/>
              <a:t>hdmi_mixer</a:t>
            </a:r>
            <a:r>
              <a:rPr lang="en-US" altLang="zh-CN" sz="1600" dirty="0"/>
              <a:t> </a:t>
            </a:r>
            <a:r>
              <a:rPr lang="zh-CN" altLang="zh-CN" sz="1600" dirty="0"/>
              <a:t>叠加</a:t>
            </a:r>
            <a:r>
              <a:rPr lang="en-US" altLang="zh-CN" sz="1600" dirty="0"/>
              <a:t> </a:t>
            </a:r>
            <a:r>
              <a:rPr lang="zh-CN" altLang="zh-CN" sz="1600" dirty="0"/>
              <a:t>Logo、文字标签和帧计数等</a:t>
            </a:r>
            <a:r>
              <a:rPr lang="en-US" altLang="zh-CN" sz="1600" dirty="0"/>
              <a:t> </a:t>
            </a:r>
            <a:r>
              <a:rPr lang="zh-CN" altLang="zh-CN" sz="1600" dirty="0"/>
              <a:t>OSD</a:t>
            </a:r>
            <a:r>
              <a:rPr lang="en-US" altLang="zh-CN" sz="1600" dirty="0"/>
              <a:t> </a:t>
            </a:r>
            <a:r>
              <a:rPr lang="zh-CN" altLang="zh-CN" sz="1600" dirty="0"/>
              <a:t>信息，最终通过</a:t>
            </a:r>
            <a:r>
              <a:rPr lang="en-US" altLang="zh-CN" sz="1600" dirty="0"/>
              <a:t> </a:t>
            </a:r>
            <a:r>
              <a:rPr lang="zh-CN" altLang="zh-CN" sz="1600" dirty="0"/>
              <a:t>HDMI</a:t>
            </a:r>
            <a:r>
              <a:rPr lang="en-US" altLang="zh-CN" sz="1600" dirty="0"/>
              <a:t> </a:t>
            </a:r>
            <a:r>
              <a:rPr lang="zh-CN" altLang="zh-CN" sz="1600" dirty="0"/>
              <a:t>实时输出至显示器，实现视频采集、图像处理、OSD</a:t>
            </a:r>
            <a:r>
              <a:rPr lang="en-US" altLang="zh-CN" sz="1600" dirty="0"/>
              <a:t> </a:t>
            </a:r>
            <a:r>
              <a:rPr lang="zh-CN" altLang="zh-CN" sz="1600" dirty="0"/>
              <a:t>叠加与高清显示。</a:t>
            </a:r>
            <a:endParaRPr lang="zh-CN" altLang="zh-CN" sz="1600" dirty="0"/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10847892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基本要求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4——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使用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FPGA 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开发板在输出视频画面中叠加简单图形或文字信息（</a:t>
            </a:r>
            <a:r>
              <a:rPr lang="en-US" altLang="zh-CN" sz="2400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OSD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），并包含“安路”标识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Logo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。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501877" y="4881679"/>
            <a:ext cx="8639344" cy="342064"/>
            <a:chOff x="1042552" y="3818584"/>
            <a:chExt cx="6264832" cy="211665"/>
          </a:xfrm>
        </p:grpSpPr>
        <p:sp>
          <p:nvSpPr>
            <p:cNvPr id="5" name="文本框 4"/>
            <p:cNvSpPr txBox="1"/>
            <p:nvPr/>
          </p:nvSpPr>
          <p:spPr>
            <a:xfrm>
              <a:off x="1042552" y="3818584"/>
              <a:ext cx="1998735" cy="17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要求四实现思路示意图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08649" y="3858846"/>
              <a:ext cx="1998735" cy="17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要求四实现思路系统框图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94891" y="19528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4891" y="2501563"/>
          <a:ext cx="4986067" cy="2358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16936720" imgH="8006080" progId="Visio.Drawing.15">
                  <p:embed/>
                </p:oleObj>
              </mc:Choice>
              <mc:Fallback>
                <p:oleObj name="Visio" r:id="rId1" imgW="16936720" imgH="800608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91" y="2501563"/>
                        <a:ext cx="4986067" cy="23588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993171" y="191470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377651" y="1896869"/>
          <a:ext cx="6392884" cy="306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3" imgW="16753840" imgH="8026400" progId="Visio.Drawing.15">
                  <p:embed/>
                </p:oleObj>
              </mc:Choice>
              <mc:Fallback>
                <p:oleObj name="Visio" r:id="rId3" imgW="16753840" imgH="802640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7651" y="1896869"/>
                        <a:ext cx="6392884" cy="3064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0" y="1890725"/>
            <a:ext cx="3918174" cy="41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基本要求以及例程中涉及的安路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IP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核。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涉及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IP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核、参考设计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9983" y="2435225"/>
          <a:ext cx="10812034" cy="35724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6017"/>
                <a:gridCol w="5406017"/>
              </a:tblGrid>
              <a:tr h="573065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IP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核或相关工程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参考手册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</a:tr>
              <a:tr h="749848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3D4963"/>
                          </a:solidFill>
                        </a:rPr>
                        <a:t>MIPI D-PHY RX / MIPI Camera Reference Design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APUG010_Local bus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总线的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SDRAM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读写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v1.1.pdf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</a:tr>
              <a:tr h="749848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solidFill>
                            <a:srgbClr val="3D4963"/>
                          </a:solidFill>
                        </a:rPr>
                        <a:t>APUG092_HDMI1.4b_Transmitter_V1.0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APUG011_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基于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ERAM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接口实现的高性能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SDRAM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读写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v1.2.pdf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</a:tr>
              <a:tr h="749848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solidFill>
                            <a:srgbClr val="3D4963"/>
                          </a:solidFill>
                        </a:rPr>
                        <a:t>DDR2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 / </a:t>
                      </a:r>
                      <a:r>
                        <a:rPr lang="en-US" altLang="zh-CN" sz="1600" dirty="0" err="1">
                          <a:solidFill>
                            <a:srgbClr val="3D4963"/>
                          </a:solidFill>
                        </a:rPr>
                        <a:t>PH1P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 DDR Memory Controller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APUG013_UDP_Communication_Protocol_Reference_Design_v1.3.pdf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</a:tr>
              <a:tr h="749848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solidFill>
                            <a:srgbClr val="3D4963"/>
                          </a:solidFill>
                        </a:rPr>
                        <a:t>Soft_fifo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IPUG012_Soft_FIFO</a:t>
                      </a:r>
                      <a:r>
                        <a:rPr lang="zh-CN" altLang="en-US" sz="1600" dirty="0">
                          <a:solidFill>
                            <a:srgbClr val="3D4963"/>
                          </a:solidFill>
                        </a:rPr>
                        <a:t>用户手册</a:t>
                      </a:r>
                      <a:r>
                        <a:rPr lang="en-US" altLang="zh-CN" sz="1600" dirty="0">
                          <a:solidFill>
                            <a:srgbClr val="3D4963"/>
                          </a:solidFill>
                        </a:rPr>
                        <a:t>.pdf</a:t>
                      </a:r>
                      <a:endParaRPr lang="zh-CN" altLang="en-US" sz="1600" dirty="0">
                        <a:solidFill>
                          <a:srgbClr val="3D496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2028" y="982472"/>
            <a:ext cx="1060704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扩展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要求</a:t>
            </a:r>
            <a:r>
              <a:rPr lang="en-US" altLang="zh-CN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1——</a:t>
            </a:r>
            <a:r>
              <a:rPr lang="zh-CN" altLang="en-US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视频图像风格化</a:t>
            </a:r>
            <a:r>
              <a:rPr lang="en-US" altLang="zh-CN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/</a:t>
            </a:r>
            <a:r>
              <a:rPr lang="zh-CN" altLang="en-US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视觉增强</a:t>
            </a:r>
            <a:endParaRPr sz="25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5657" y="5705602"/>
            <a:ext cx="1069848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600">
                <a:sym typeface="+mn-ea"/>
              </a:rPr>
              <a:t>在基础图像处理链路上增加边缘提取、区域填充或颜色量化，让画面效果更直观。</a:t>
            </a:r>
            <a:endParaRPr lang="zh-CN" altLang="en-US" sz="1600">
              <a:sym typeface="+mn-e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2155" y="1783080"/>
            <a:ext cx="10880725" cy="3720465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CE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962" y="1938528"/>
            <a:ext cx="5349240" cy="352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700" b="1" spc="300" dirty="0">
                <a:solidFill>
                  <a:srgbClr val="FF0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推荐实现链路</a:t>
            </a:r>
            <a:endParaRPr lang="zh-CN" altLang="en-US" sz="1700" b="1" spc="300" dirty="0">
              <a:solidFill>
                <a:srgbClr val="FF0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5530" y="2606040"/>
            <a:ext cx="685800" cy="658368"/>
          </a:xfrm>
          <a:prstGeom prst="rect">
            <a:avLst/>
          </a:prstGeom>
          <a:solidFill>
            <a:srgbClr val="EAF2E2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MIPI
输入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24482" y="2606040"/>
            <a:ext cx="685800" cy="658368"/>
          </a:xfrm>
          <a:prstGeom prst="rect">
            <a:avLst/>
          </a:prstGeom>
          <a:solidFill>
            <a:srgbClr val="E8F1FA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RAW10
解包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751330" y="293522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583433" y="2606040"/>
            <a:ext cx="685800" cy="658368"/>
          </a:xfrm>
          <a:prstGeom prst="rect">
            <a:avLst/>
          </a:prstGeom>
          <a:solidFill>
            <a:srgbClr val="F9EFC8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ISP
基础处理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510282" y="2935224"/>
            <a:ext cx="73151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342386" y="2606040"/>
            <a:ext cx="685800" cy="658368"/>
          </a:xfrm>
          <a:prstGeom prst="rect">
            <a:avLst/>
          </a:prstGeom>
          <a:solidFill>
            <a:srgbClr val="F6E4E7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边缘
检测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269233" y="2935224"/>
            <a:ext cx="73153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101338" y="2606040"/>
            <a:ext cx="685800" cy="658368"/>
          </a:xfrm>
          <a:prstGeom prst="rect">
            <a:avLst/>
          </a:prstGeom>
          <a:solidFill>
            <a:srgbClr val="EEEBF7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区域填充/
颜色量化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028186" y="293522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860290" y="2606040"/>
            <a:ext cx="685800" cy="658368"/>
          </a:xfrm>
          <a:prstGeom prst="rect">
            <a:avLst/>
          </a:prstGeom>
          <a:solidFill>
            <a:srgbClr val="EAF2E2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DDR2
帧缓存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4787138" y="293522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619242" y="2606040"/>
            <a:ext cx="685800" cy="658368"/>
          </a:xfrm>
          <a:prstGeom prst="rect">
            <a:avLst/>
          </a:prstGeom>
          <a:solidFill>
            <a:srgbClr val="F9EFC8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 panose="020B0503020204020204" pitchFamily="34" charset="-122"/>
              </a:rPr>
              <a:t>HDMI
显示</a:t>
            </a:r>
            <a:endParaRPr sz="9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546090" y="293522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3429000"/>
            <a:ext cx="149352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6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效果图示例</a:t>
            </a:r>
            <a:endParaRPr lang="zh-CN" altLang="en-US" sz="16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8610" y="5119751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33F"/>
                </a:solidFill>
                <a:latin typeface="微软雅黑" panose="020B0503020204020204" pitchFamily="34" charset="-122"/>
              </a:rPr>
              <a:t>输入图像</a:t>
            </a:r>
            <a:endParaRPr sz="1100" b="1">
              <a:solidFill>
                <a:srgbClr val="14233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3315" y="5119751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33F"/>
                </a:solidFill>
                <a:latin typeface="微软雅黑" panose="020B0503020204020204" pitchFamily="34" charset="-122"/>
              </a:rPr>
              <a:t>边缘提取</a:t>
            </a:r>
            <a:endParaRPr sz="1100" b="1">
              <a:solidFill>
                <a:srgbClr val="14233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2790" y="5119751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33F"/>
                </a:solidFill>
                <a:latin typeface="微软雅黑" panose="020B0503020204020204" pitchFamily="34" charset="-122"/>
              </a:rPr>
              <a:t>扩展效果</a:t>
            </a:r>
            <a:endParaRPr sz="1100" b="1">
              <a:solidFill>
                <a:srgbClr val="14233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498721" y="4412488"/>
            <a:ext cx="128016" cy="0"/>
          </a:xfrm>
          <a:prstGeom prst="line">
            <a:avLst/>
          </a:prstGeom>
          <a:ln w="13970">
            <a:solidFill>
              <a:srgbClr val="C71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08826" y="4412488"/>
            <a:ext cx="128016" cy="0"/>
          </a:xfrm>
          <a:prstGeom prst="line">
            <a:avLst/>
          </a:prstGeom>
          <a:ln w="13970">
            <a:solidFill>
              <a:srgbClr val="C71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original_vide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155" y="3520440"/>
            <a:ext cx="1975485" cy="1599565"/>
          </a:xfrm>
          <a:prstGeom prst="rect">
            <a:avLst/>
          </a:prstGeom>
        </p:spPr>
      </p:pic>
      <p:pic>
        <p:nvPicPr>
          <p:cNvPr id="35" name="Picture 34" descr="edge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610" y="3520440"/>
            <a:ext cx="1974850" cy="1599565"/>
          </a:xfrm>
          <a:prstGeom prst="rect">
            <a:avLst/>
          </a:prstGeom>
        </p:spPr>
      </p:pic>
      <p:pic>
        <p:nvPicPr>
          <p:cNvPr id="36" name="Picture 35" descr="cartoon_re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335" y="3520440"/>
            <a:ext cx="1974850" cy="15995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864997"/>
            <a:ext cx="1060704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扩展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要求</a:t>
            </a:r>
            <a:r>
              <a:rPr lang="en-US" altLang="zh-CN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2——</a:t>
            </a:r>
            <a:r>
              <a:rPr lang="zh-CN" altLang="en-US" sz="25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目标检测与识别</a:t>
            </a:r>
            <a:endParaRPr sz="2500" b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2942" y="5609082"/>
            <a:ext cx="1069848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600">
                <a:sym typeface="+mn-ea"/>
              </a:rPr>
              <a:t>优先选择颜色块、几何形状等可由硬件流水线稳定处理的目标，并叠加检测结果。</a:t>
            </a:r>
            <a:endParaRPr lang="zh-CN" altLang="en-US" sz="1600">
              <a:sym typeface="+mn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495" y="1783080"/>
            <a:ext cx="10671175" cy="3642995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E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375" y="1956943"/>
            <a:ext cx="448056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latin typeface="+mj-ea"/>
                <a:ea typeface="+mj-ea"/>
              </a:rPr>
              <a:t>检测效果图示例</a:t>
            </a:r>
            <a:endParaRPr>
              <a:latin typeface="+mj-ea"/>
              <a:ea typeface="+mj-ea"/>
            </a:endParaRPr>
          </a:p>
        </p:txBody>
      </p:sp>
      <p:pic>
        <p:nvPicPr>
          <p:cNvPr id="32" name="Picture 31" descr="detection_demo.jpg"/>
          <p:cNvPicPr>
            <a:picLocks noChangeAspect="1"/>
          </p:cNvPicPr>
          <p:nvPr/>
        </p:nvPicPr>
        <p:blipFill>
          <a:blip r:embed="rId1"/>
          <a:srcRect l="21823" r="21483"/>
          <a:stretch>
            <a:fillRect/>
          </a:stretch>
        </p:blipFill>
        <p:spPr>
          <a:xfrm>
            <a:off x="1196975" y="2350770"/>
            <a:ext cx="3750945" cy="2787015"/>
          </a:xfrm>
          <a:prstGeom prst="rect">
            <a:avLst/>
          </a:prstGeom>
        </p:spPr>
      </p:pic>
      <p:sp>
        <p:nvSpPr>
          <p:cNvPr id="7" name="TextBox 11"/>
          <p:cNvSpPr txBox="1"/>
          <p:nvPr/>
        </p:nvSpPr>
        <p:spPr>
          <a:xfrm>
            <a:off x="5925312" y="1938528"/>
            <a:ext cx="5349240" cy="352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700" b="1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推荐实现链路</a:t>
            </a:r>
            <a:endParaRPr lang="zh-CN" sz="1700" b="1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8" name="Rectangle 12"/>
          <p:cNvSpPr/>
          <p:nvPr/>
        </p:nvSpPr>
        <p:spPr>
          <a:xfrm>
            <a:off x="5897880" y="2532888"/>
            <a:ext cx="694944" cy="713232"/>
          </a:xfrm>
          <a:prstGeom prst="rect">
            <a:avLst/>
          </a:prstGeom>
          <a:solidFill>
            <a:srgbClr val="EAF2E2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MIPI
输入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9" name="Rectangle 13"/>
          <p:cNvSpPr/>
          <p:nvPr/>
        </p:nvSpPr>
        <p:spPr>
          <a:xfrm>
            <a:off x="6665976" y="2532888"/>
            <a:ext cx="694944" cy="713232"/>
          </a:xfrm>
          <a:prstGeom prst="rect">
            <a:avLst/>
          </a:prstGeom>
          <a:solidFill>
            <a:srgbClr val="F9EFC8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ISP
预处理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33" name="Connector 14"/>
          <p:cNvCxnSpPr/>
          <p:nvPr/>
        </p:nvCxnSpPr>
        <p:spPr>
          <a:xfrm>
            <a:off x="6592824" y="288950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15"/>
          <p:cNvSpPr/>
          <p:nvPr/>
        </p:nvSpPr>
        <p:spPr>
          <a:xfrm>
            <a:off x="7434072" y="2532888"/>
            <a:ext cx="694944" cy="713232"/>
          </a:xfrm>
          <a:prstGeom prst="rect">
            <a:avLst/>
          </a:prstGeom>
          <a:solidFill>
            <a:srgbClr val="F6E4E7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颜色/形状
特征提取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35" name="Connector 16"/>
          <p:cNvCxnSpPr/>
          <p:nvPr/>
        </p:nvCxnSpPr>
        <p:spPr>
          <a:xfrm>
            <a:off x="7360920" y="288950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17"/>
          <p:cNvSpPr/>
          <p:nvPr/>
        </p:nvSpPr>
        <p:spPr>
          <a:xfrm>
            <a:off x="8202168" y="2532888"/>
            <a:ext cx="694944" cy="713232"/>
          </a:xfrm>
          <a:prstGeom prst="rect">
            <a:avLst/>
          </a:prstGeom>
          <a:solidFill>
            <a:srgbClr val="EEEBF7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阈值
判定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37" name="Connector 18"/>
          <p:cNvCxnSpPr/>
          <p:nvPr/>
        </p:nvCxnSpPr>
        <p:spPr>
          <a:xfrm>
            <a:off x="8129016" y="288950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19"/>
          <p:cNvSpPr/>
          <p:nvPr/>
        </p:nvSpPr>
        <p:spPr>
          <a:xfrm>
            <a:off x="8970264" y="2532888"/>
            <a:ext cx="694944" cy="713232"/>
          </a:xfrm>
          <a:prstGeom prst="rect">
            <a:avLst/>
          </a:prstGeom>
          <a:solidFill>
            <a:srgbClr val="E8F1FA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连通域/
坐标计算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39" name="Connector 20"/>
          <p:cNvCxnSpPr/>
          <p:nvPr/>
        </p:nvCxnSpPr>
        <p:spPr>
          <a:xfrm>
            <a:off x="8897112" y="288950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21"/>
          <p:cNvSpPr/>
          <p:nvPr/>
        </p:nvSpPr>
        <p:spPr>
          <a:xfrm>
            <a:off x="9738360" y="2532888"/>
            <a:ext cx="694944" cy="713232"/>
          </a:xfrm>
          <a:prstGeom prst="rect">
            <a:avLst/>
          </a:prstGeom>
          <a:solidFill>
            <a:srgbClr val="F9EFC8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OSD
结果叠加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41" name="Connector 22"/>
          <p:cNvCxnSpPr/>
          <p:nvPr/>
        </p:nvCxnSpPr>
        <p:spPr>
          <a:xfrm>
            <a:off x="9665208" y="288950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23"/>
          <p:cNvSpPr/>
          <p:nvPr/>
        </p:nvSpPr>
        <p:spPr>
          <a:xfrm>
            <a:off x="10506456" y="2532888"/>
            <a:ext cx="694944" cy="713232"/>
          </a:xfrm>
          <a:prstGeom prst="rect">
            <a:avLst/>
          </a:prstGeom>
          <a:solidFill>
            <a:srgbClr val="EAF2E2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HDMI
显示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43" name="Connector 24"/>
          <p:cNvCxnSpPr/>
          <p:nvPr/>
        </p:nvCxnSpPr>
        <p:spPr>
          <a:xfrm>
            <a:off x="10433304" y="2889504"/>
            <a:ext cx="7315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25"/>
          <p:cNvSpPr/>
          <p:nvPr/>
        </p:nvSpPr>
        <p:spPr>
          <a:xfrm>
            <a:off x="7456170" y="3794760"/>
            <a:ext cx="692785" cy="683260"/>
          </a:xfrm>
          <a:prstGeom prst="rect">
            <a:avLst/>
          </a:prstGeom>
          <a:solidFill>
            <a:srgbClr val="EAF2E2"/>
          </a:solidFill>
          <a:ln w="10160">
            <a:solidFill>
              <a:srgbClr val="4B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+mn-ea"/>
                <a:cs typeface="+mn-ea"/>
              </a:rPr>
              <a:t>DDR2
帧缓存</a:t>
            </a:r>
            <a:endParaRPr sz="1000" b="0">
              <a:solidFill>
                <a:srgbClr val="000000"/>
              </a:solidFill>
              <a:latin typeface="+mn-ea"/>
              <a:cs typeface="+mn-ea"/>
            </a:endParaRPr>
          </a:p>
        </p:txBody>
      </p:sp>
      <p:cxnSp>
        <p:nvCxnSpPr>
          <p:cNvPr id="45" name="Connector 27"/>
          <p:cNvCxnSpPr/>
          <p:nvPr/>
        </p:nvCxnSpPr>
        <p:spPr>
          <a:xfrm flipV="1">
            <a:off x="7781290" y="3245993"/>
            <a:ext cx="0" cy="54864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28"/>
          <p:cNvSpPr/>
          <p:nvPr/>
        </p:nvSpPr>
        <p:spPr>
          <a:xfrm>
            <a:off x="8321040" y="3703320"/>
            <a:ext cx="2468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6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50" b="1">
                <a:solidFill>
                  <a:srgbClr val="2D5691"/>
                </a:solidFill>
                <a:latin typeface="+mn-ea"/>
                <a:cs typeface="+mn-ea"/>
              </a:rPr>
              <a:t>检测结果
类别 / 坐标 / 数量</a:t>
            </a:r>
            <a:endParaRPr sz="1250" b="1">
              <a:solidFill>
                <a:srgbClr val="2D569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Rounded Rectangle 6"/>
          <p:cNvSpPr/>
          <p:nvPr/>
        </p:nvSpPr>
        <p:spPr>
          <a:xfrm>
            <a:off x="540230" y="1445453"/>
            <a:ext cx="11111541" cy="1023559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DE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扩展要求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3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面向实际应用场景进行系统设计:结合智能小车、电机、交通灯、语音等外设，让图像识别结果产生控制动作。</a:t>
            </a:r>
            <a:endParaRPr lang="zh-CN" altLang="en-US" sz="20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Rounded Rectangle 10"/>
          <p:cNvSpPr/>
          <p:nvPr/>
        </p:nvSpPr>
        <p:spPr>
          <a:xfrm>
            <a:off x="540231" y="2878502"/>
            <a:ext cx="111115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扩展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要求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4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优化系统性能:围绕实时性、资源占用、低功耗、稳定性进行优化，强调工程质量。</a:t>
            </a:r>
            <a:endParaRPr lang="zh-CN" altLang="en-US" sz="20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Rounded Rectangle 14"/>
          <p:cNvSpPr/>
          <p:nvPr/>
        </p:nvSpPr>
        <p:spPr>
          <a:xfrm>
            <a:off x="540230" y="4430993"/>
            <a:ext cx="11111541" cy="1143000"/>
          </a:xfrm>
          <a:prstGeom prst="roundRect">
            <a:avLst/>
          </a:prstGeom>
          <a:solidFill>
            <a:srgbClr val="FAE8EA"/>
          </a:solidFill>
          <a:ln w="12700">
            <a:solidFill>
              <a:srgbClr val="DE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扩展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要求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自主创意:围绕视频处理、交互控制和场景应用自由发挥，但必须建立在稳定系统之上。</a:t>
            </a:r>
            <a:endParaRPr lang="zh-CN" altLang="en-US" sz="20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0720" y="941426"/>
            <a:ext cx="1062377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进阶要求１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多算法切换与状态显示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：可尝试通过按键实现多种图像处理算法的实时切换，并在画面中显示当前算法状态，力求切换平稳。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94622" y="2296434"/>
            <a:ext cx="8604026" cy="4051775"/>
            <a:chOff x="1793987" y="1743984"/>
            <a:chExt cx="8604026" cy="4051775"/>
          </a:xfrm>
        </p:grpSpPr>
        <p:grpSp>
          <p:nvGrpSpPr>
            <p:cNvPr id="7" name="组合 6"/>
            <p:cNvGrpSpPr/>
            <p:nvPr/>
          </p:nvGrpSpPr>
          <p:grpSpPr>
            <a:xfrm>
              <a:off x="1793987" y="4152746"/>
              <a:ext cx="8604026" cy="1643013"/>
              <a:chOff x="1793987" y="4152746"/>
              <a:chExt cx="8604026" cy="1643013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4395752" y="4152746"/>
                <a:ext cx="31937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要求一实现思路示意图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793987" y="4596879"/>
                <a:ext cx="8604026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sz="1600" dirty="0"/>
                  <a:t>摄像头输出的</a:t>
                </a:r>
                <a:r>
                  <a:rPr lang="en-US" altLang="zh-CN" sz="1600" dirty="0"/>
                  <a:t> </a:t>
                </a:r>
                <a:r>
                  <a:rPr lang="en-US" altLang="zh-CN" sz="1600" dirty="0" err="1"/>
                  <a:t>RAW10 </a:t>
                </a:r>
                <a:r>
                  <a:rPr lang="zh-CN" altLang="en-US" sz="1600" dirty="0"/>
                  <a:t>原始图像先经过去马赛克处理，将原始</a:t>
                </a:r>
                <a:r>
                  <a:rPr lang="en-US" altLang="zh-CN" sz="1600" dirty="0"/>
                  <a:t> Bayer </a:t>
                </a:r>
                <a:r>
                  <a:rPr lang="zh-CN" altLang="en-US" sz="1600" dirty="0"/>
                  <a:t>格式数据还原为</a:t>
                </a:r>
                <a:r>
                  <a:rPr lang="en-US" altLang="zh-CN" sz="1600" dirty="0"/>
                  <a:t> RGB </a:t>
                </a:r>
                <a:r>
                  <a:rPr lang="zh-CN" altLang="en-US" sz="1600" dirty="0"/>
                  <a:t>彩色图像；随后通过自动白平衡调整红、绿、蓝三个颜色通道的比例，改善画面偏色问题，为后续边缘检测、卡通化处理或</a:t>
                </a:r>
                <a:r>
                  <a:rPr lang="en-US" altLang="zh-CN" sz="1600" dirty="0"/>
                  <a:t> HDMI </a:t>
                </a:r>
                <a:r>
                  <a:rPr lang="zh-CN" altLang="en-US" sz="1600" dirty="0"/>
                  <a:t>显示提供更正常的图像输入。</a:t>
                </a:r>
                <a:endParaRPr kumimoji="1" lang="en-US" altLang="zh-CN" sz="1600" b="1" dirty="0">
                  <a:solidFill>
                    <a:srgbClr val="FF0000"/>
                  </a:solidFill>
                  <a:ea typeface="思源黑体 CN Regular" panose="020B0500000000000000" pitchFamily="34" charset="-122"/>
                </a:endParaRPr>
              </a:p>
            </p:txBody>
          </p:sp>
        </p:grp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07157" y="1743984"/>
              <a:ext cx="6533070" cy="24087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0720" y="860747"/>
            <a:ext cx="1151128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进阶要求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2</a:t>
            </a:r>
            <a:r>
              <a:rPr lang="en-US" altLang="zh-CN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目标跟踪与信息标注</a:t>
            </a:r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：探索对画面中特定颜色或形状目标的动态跟踪，在输出视频上叠加跟踪标识或坐标信息。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93987" y="5128004"/>
            <a:ext cx="860402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/>
              <a:t>FPGA</a:t>
            </a:r>
            <a:r>
              <a:rPr lang="en-US" altLang="zh-CN" sz="1600" dirty="0"/>
              <a:t> </a:t>
            </a:r>
            <a:r>
              <a:rPr lang="zh-CN" altLang="zh-CN" sz="1600" dirty="0"/>
              <a:t>通过</a:t>
            </a:r>
            <a:r>
              <a:rPr lang="en-US" altLang="zh-CN" sz="1600" dirty="0"/>
              <a:t> </a:t>
            </a:r>
            <a:r>
              <a:rPr lang="zh-CN" altLang="zh-CN" sz="1600" dirty="0"/>
              <a:t>MIPI/CSI</a:t>
            </a:r>
            <a:r>
              <a:rPr lang="en-US" altLang="zh-CN" sz="1600" dirty="0"/>
              <a:t> </a:t>
            </a:r>
            <a:r>
              <a:rPr lang="zh-CN" altLang="zh-CN" sz="1600" dirty="0"/>
              <a:t>接口接收摄像头图像数据，经图像采集与预处理后进入目标检测与识别模块，对画面中的几何形状或特定物体进行识别。识别结果由结果叠加模块添加检测框、类别标签和置信度信息，最后通过</a:t>
            </a:r>
            <a:r>
              <a:rPr lang="en-US" altLang="zh-CN" sz="1600" dirty="0"/>
              <a:t> </a:t>
            </a:r>
            <a:r>
              <a:rPr lang="zh-CN" altLang="zh-CN" sz="1600" dirty="0"/>
              <a:t>HDMI</a:t>
            </a:r>
            <a:r>
              <a:rPr lang="en-US" altLang="zh-CN" sz="1600" dirty="0"/>
              <a:t> </a:t>
            </a:r>
            <a:r>
              <a:rPr lang="zh-CN" altLang="zh-CN" sz="1600" dirty="0"/>
              <a:t>接口实时输出至显示器。以太网接口可用于上位机配置与状态监控。</a:t>
            </a:r>
            <a:endParaRPr kumimoji="1" lang="zh-CN" altLang="en-US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rcRect b="3127"/>
          <a:stretch>
            <a:fillRect/>
          </a:stretch>
        </p:blipFill>
        <p:spPr>
          <a:xfrm>
            <a:off x="2199736" y="1729996"/>
            <a:ext cx="7491110" cy="33980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Rounded Rectangle 6"/>
          <p:cNvSpPr/>
          <p:nvPr/>
        </p:nvSpPr>
        <p:spPr>
          <a:xfrm>
            <a:off x="540230" y="1445453"/>
            <a:ext cx="11111541" cy="1023559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DE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进阶要求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3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处理延迟可视化：鼓励设计延迟测量方案，将采集到显示的延迟进行可视化（如帧计数），以体现系统实时性；</a:t>
            </a:r>
            <a:endParaRPr lang="en-US" altLang="zh-CN" sz="20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Rounded Rectangle 10"/>
          <p:cNvSpPr/>
          <p:nvPr/>
        </p:nvSpPr>
        <p:spPr>
          <a:xfrm>
            <a:off x="540231" y="2878502"/>
            <a:ext cx="111115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进阶要求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4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运动目标检测：尝试用硬件逻辑实现帧差法等运动检测，并叠加运动区域提示或计数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；</a:t>
            </a:r>
            <a:endParaRPr lang="zh-CN" altLang="en-US" sz="20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Rounded Rectangle 14"/>
          <p:cNvSpPr/>
          <p:nvPr/>
        </p:nvSpPr>
        <p:spPr>
          <a:xfrm>
            <a:off x="540230" y="4430993"/>
            <a:ext cx="11111541" cy="1143000"/>
          </a:xfrm>
          <a:prstGeom prst="roundRect">
            <a:avLst/>
          </a:prstGeom>
          <a:solidFill>
            <a:srgbClr val="FAE8EA"/>
          </a:solidFill>
          <a:ln w="12700">
            <a:solidFill>
              <a:srgbClr val="DE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进阶要求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——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图像质量自动调节：可探索自动曝光、白平衡或直方图均衡等 </a:t>
            </a:r>
            <a:r>
              <a:rPr lang="en-US" altLang="zh-CN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ISP </a:t>
            </a:r>
            <a:r>
              <a:rPr lang="zh-CN" altLang="en-US" sz="2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处理，提升画面适应能力。</a:t>
            </a:r>
            <a:endParaRPr lang="zh-CN" altLang="en-US" sz="20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0" y="1727124"/>
            <a:ext cx="9799021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赛题二所用开发板必须为</a:t>
            </a:r>
            <a:r>
              <a:rPr kumimoji="1" lang="en-US" altLang="zh-CN" sz="1600" dirty="0" err="1">
                <a:solidFill>
                  <a:srgbClr val="132141"/>
                </a:solidFill>
                <a:ea typeface="思源黑体 CN Regular" panose="020B0500000000000000" pitchFamily="34" charset="-122"/>
              </a:rPr>
              <a:t>HX1P35A</a:t>
            </a:r>
            <a:r>
              <a:rPr kumimoji="1" lang="zh-CN" altLang="zh-CN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开发板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。</a:t>
            </a:r>
            <a:endParaRPr kumimoji="1" lang="zh-CN" altLang="zh-CN" sz="1600" dirty="0">
              <a:solidFill>
                <a:srgbClr val="132141"/>
              </a:solidFill>
              <a:ea typeface="思源黑体 CN Regular" panose="020B0500000000000000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最终提交设计必须固化在开发板上，上电即可运行，无需再使用</a:t>
            </a:r>
            <a:r>
              <a:rPr kumimoji="1" lang="en-US" altLang="zh-CN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PC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下载。</a:t>
            </a:r>
            <a:endParaRPr kumimoji="1" lang="en-US" altLang="zh-CN" sz="1600" dirty="0">
              <a:solidFill>
                <a:srgbClr val="132141"/>
              </a:solidFill>
              <a:ea typeface="思源黑体 CN Regular" panose="020B0500000000000000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最终已实现的基础要求、扩展要求、进阶要求必须整合为完整的最终设计，在测试时不能通过多次加载固化镜像以单独实现基础要求、扩展要求和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  <a:sym typeface="+mn-ea"/>
              </a:rPr>
              <a:t>进阶要求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。</a:t>
            </a:r>
            <a:endParaRPr kumimoji="1" lang="en-US" altLang="zh-CN" sz="1600" dirty="0">
              <a:solidFill>
                <a:srgbClr val="132141"/>
              </a:solidFill>
              <a:ea typeface="思源黑体 CN Regular" panose="020B0500000000000000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最终设计应该具有实用性。</a:t>
            </a:r>
            <a:endParaRPr kumimoji="1" lang="en-US" altLang="zh-CN" sz="1600" dirty="0">
              <a:solidFill>
                <a:srgbClr val="132141"/>
              </a:solidFill>
              <a:ea typeface="思源黑体 CN Regular" panose="020B0500000000000000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扩展要求</a:t>
            </a:r>
            <a:r>
              <a:rPr kumimoji="1" lang="en-US" altLang="zh-CN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3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、</a:t>
            </a:r>
            <a:r>
              <a:rPr kumimoji="1" lang="en-US" altLang="zh-CN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4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、</a:t>
            </a:r>
            <a:r>
              <a:rPr kumimoji="1" lang="en-US" altLang="zh-CN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5</a:t>
            </a: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为启发性要求，为扩展要求的设计提供一些思路以及方向。</a:t>
            </a:r>
            <a:endParaRPr kumimoji="1" lang="en-US" altLang="zh-CN" sz="1600" dirty="0">
              <a:solidFill>
                <a:srgbClr val="132141"/>
              </a:solidFill>
              <a:ea typeface="思源黑体 CN Regular" panose="020B0500000000000000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132141"/>
                </a:solidFill>
                <a:ea typeface="思源黑体 CN Regular" panose="020B0500000000000000" pitchFamily="34" charset="-122"/>
              </a:rPr>
              <a:t>赛题最终评测不依据使用资源的大小，推荐以优化的逻辑和最低的功耗来实现最终的设计。</a:t>
            </a:r>
            <a:endParaRPr kumimoji="1" lang="en-US" altLang="zh-CN" sz="1600" dirty="0">
              <a:solidFill>
                <a:srgbClr val="132141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赛题注意事项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赛题解析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0480" y="2577313"/>
            <a:ext cx="5032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spc="6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技术支持与技术资源</a:t>
            </a:r>
            <a:endParaRPr lang="zh-CN" altLang="en-US" sz="3600" spc="6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772" y="1731281"/>
            <a:ext cx="18694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lang="zh-CN" altLang="en-US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3600" dirty="0">
                <a:solidFill>
                  <a:srgbClr val="CD12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04</a:t>
            </a:r>
            <a:endParaRPr lang="zh-CN" altLang="en-US" sz="3600" dirty="0">
              <a:solidFill>
                <a:srgbClr val="CD122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0720" y="1864453"/>
            <a:ext cx="9799021" cy="41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QQ</a:t>
            </a:r>
            <a:r>
              <a:rPr kumimoji="1" lang="zh-CN" altLang="en-US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群：</a:t>
            </a:r>
            <a:r>
              <a:rPr kumimoji="1" lang="en-US" altLang="zh-CN" sz="1600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1050628457</a:t>
            </a: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720" y="1049006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竞赛技术交流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199" y="140708"/>
            <a:ext cx="8598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技术支持与技术资源</a:t>
            </a:r>
            <a:endParaRPr lang="zh-CN" altLang="en-US" sz="28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1490" y="3399436"/>
            <a:ext cx="979902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endParaRPr kumimoji="1" lang="en-US" altLang="zh-CN" sz="1600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0720" y="2636555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板卡资料下载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0720" y="4747324"/>
            <a:ext cx="75130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板卡获取途径</a:t>
            </a:r>
            <a:endParaRPr lang="zh-CN" altLang="en-US" sz="2400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1370" y="3225165"/>
            <a:ext cx="8183245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zh-CN" altLang="en-US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通过百度网盘分享的文件：</a:t>
            </a:r>
            <a:r>
              <a:rPr kumimoji="1" lang="en-US" altLang="zh-CN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HX1P35A_Contest_202606</a:t>
            </a:r>
            <a:endParaRPr kumimoji="1" lang="en-US" altLang="zh-CN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endParaRPr kumimoji="1" lang="en-US" altLang="zh-CN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r>
              <a:rPr kumimoji="1" lang="en-US" altLang="zh-CN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https://pan.baidu.com/s/12hjB7BiAxT3CIVqzh4Amnw  </a:t>
            </a:r>
            <a:r>
              <a:rPr kumimoji="1" lang="zh-CN" altLang="en-US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提取码：</a:t>
            </a:r>
            <a:r>
              <a:rPr kumimoji="1" lang="en-US" altLang="zh-CN" dirty="0">
                <a:solidFill>
                  <a:srgbClr val="13214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Q614 </a:t>
            </a:r>
            <a:endParaRPr kumimoji="1" lang="en-US" altLang="zh-CN" dirty="0">
              <a:solidFill>
                <a:srgbClr val="13214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37B1E3-8817-4C55-A8DE-618ED730CA6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77172" y="6359829"/>
            <a:ext cx="2662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上海市浦东新区中科路</a:t>
            </a:r>
            <a:r>
              <a:rPr kumimoji="1" lang="en-US" altLang="zh-CN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1867</a:t>
            </a:r>
            <a:r>
              <a:rPr kumimoji="1" lang="zh-CN" altLang="en-US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</a:t>
            </a:r>
            <a:r>
              <a:rPr kumimoji="1" lang="en-US" altLang="zh-CN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</a:t>
            </a:r>
            <a:r>
              <a:rPr kumimoji="1" lang="zh-CN" altLang="en-US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座</a:t>
            </a:r>
            <a:r>
              <a:rPr kumimoji="1" lang="en-US" altLang="zh-CN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8/11-12</a:t>
            </a:r>
            <a:r>
              <a:rPr kumimoji="1" lang="zh-CN" altLang="en-US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层</a:t>
            </a:r>
            <a:endParaRPr kumimoji="1" lang="en-US" altLang="zh-CN" sz="1000" spc="0" dirty="0">
              <a:solidFill>
                <a:srgbClr val="CD122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374" y="6354494"/>
            <a:ext cx="211822" cy="2107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339" y="6356669"/>
            <a:ext cx="232833" cy="206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059" y="6354494"/>
            <a:ext cx="272006" cy="2107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984696" y="6359829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www.anlogic.com</a:t>
            </a:r>
            <a:endParaRPr kumimoji="1" lang="zh-CN" altLang="en-US" sz="1000" spc="0" dirty="0">
              <a:solidFill>
                <a:srgbClr val="CD122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28196" y="6359829"/>
            <a:ext cx="1005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spc="0" dirty="0">
                <a:solidFill>
                  <a:srgbClr val="CD122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021-61633787</a:t>
            </a:r>
            <a:endParaRPr kumimoji="1" lang="zh-CN" altLang="en-US" sz="1000" spc="0" dirty="0">
              <a:solidFill>
                <a:srgbClr val="CD122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72045" y="2336390"/>
            <a:ext cx="6674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6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欢迎各位同学选择选题二</a:t>
            </a:r>
            <a:endParaRPr lang="zh-CN" altLang="en-US" sz="4000" spc="6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63970" y="1550517"/>
            <a:ext cx="270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spc="600" dirty="0">
                <a:solidFill>
                  <a:srgbClr val="1321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Thanks</a:t>
            </a:r>
            <a:endParaRPr lang="zh-CN" altLang="en-US" sz="4000" spc="600" dirty="0">
              <a:solidFill>
                <a:srgbClr val="1321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0*432"/>
  <p:tag name="TABLE_ENDDRAG_RECT" val="336*96*590*43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浅色模板">
      <a:majorFont>
        <a:latin typeface="思源黑体 CN Bold"/>
        <a:ea typeface="思源黑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5382</Words>
  <Application>WPS 演示</Application>
  <PresentationFormat>宽屏</PresentationFormat>
  <Paragraphs>534</Paragraphs>
  <Slides>29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29</vt:i4>
      </vt:variant>
    </vt:vector>
  </HeadingPairs>
  <TitlesOfParts>
    <vt:vector size="62" baseType="lpstr">
      <vt:lpstr>Arial</vt:lpstr>
      <vt:lpstr>宋体</vt:lpstr>
      <vt:lpstr>Wingdings</vt:lpstr>
      <vt:lpstr>Roboto</vt:lpstr>
      <vt:lpstr>Times New Roman</vt:lpstr>
      <vt:lpstr>Roboto Bk</vt:lpstr>
      <vt:lpstr>微软雅黑</vt:lpstr>
      <vt:lpstr>思源黑体 CN Heavy</vt:lpstr>
      <vt:lpstr>黑体</vt:lpstr>
      <vt:lpstr>思源黑体 CN Regular</vt:lpstr>
      <vt:lpstr>思源黑体 CN Medium</vt:lpstr>
      <vt:lpstr>思源黑体 CN Normal</vt:lpstr>
      <vt:lpstr>KSOF6DA6CABE</vt:lpstr>
      <vt:lpstr>Liberation Mono</vt:lpstr>
      <vt:lpstr>KSOFBD29610E</vt:lpstr>
      <vt:lpstr>KSOFDDF4E7ED</vt:lpstr>
      <vt:lpstr>Arial Unicode MS</vt:lpstr>
      <vt:lpstr>KSOF28C8607A</vt:lpstr>
      <vt:lpstr>等线</vt:lpstr>
      <vt:lpstr>KSOFBD28ECAF</vt:lpstr>
      <vt:lpstr>KSOF28C8D4D9</vt:lpstr>
      <vt:lpstr>KSOF9549C61A</vt:lpstr>
      <vt:lpstr>思源黑体 CN Regular</vt:lpstr>
      <vt:lpstr>思源黑体 CN Heavy</vt:lpstr>
      <vt:lpstr>思源黑体 CN Medium</vt:lpstr>
      <vt:lpstr>思源黑体 CN Normal</vt:lpstr>
      <vt:lpstr>Office 主题​​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WPS_1681392381</cp:lastModifiedBy>
  <cp:revision>235</cp:revision>
  <dcterms:created xsi:type="dcterms:W3CDTF">2021-11-06T05:42:00Z</dcterms:created>
  <dcterms:modified xsi:type="dcterms:W3CDTF">2026-08-24T10:01:38Z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FF300361FAE14605989DF7A824FCA829_12</vt:lpwstr>
  </property>
</Properties>
</file>